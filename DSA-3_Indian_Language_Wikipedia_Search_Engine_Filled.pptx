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9" r:id="rId3"/>
    <p:sldId id="257" r:id="rId4"/>
    <p:sldId id="264" r:id="rId5"/>
    <p:sldId id="258" r:id="rId6"/>
    <p:sldId id="261" r:id="rId7"/>
    <p:sldId id="267" r:id="rId8"/>
    <p:sldId id="265" r:id="rId9"/>
    <p:sldId id="259" r:id="rId10"/>
    <p:sldId id="266" r:id="rId11"/>
    <p:sldId id="260"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A76A6C-4160-EA90-EFD9-CDB22F1E31EC}" v="168" dt="2026-09-09T07:02:24.379"/>
    <p1510:client id="{B4C1B7C9-6F96-E903-5730-A9281F2368ED}" v="26" dt="2026-09-09T08:08:33.380"/>
    <p1510:client id="{DEA03CEC-75F6-4137-A688-4E851FB6408A}" v="251" dt="2026-09-09T08:16:26.9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 Chalamalla" userId="88a3a2811460c8de" providerId="LiveId" clId="{88AA93BB-B1E0-43CB-9A8C-8BEF66485449}"/>
    <pc:docChg chg="undo custSel addSld delSld modSld sldOrd">
      <pc:chgData name="Suraj Chalamalla" userId="88a3a2811460c8de" providerId="LiveId" clId="{88AA93BB-B1E0-43CB-9A8C-8BEF66485449}" dt="2026-09-09T08:16:26.946" v="257" actId="20577"/>
      <pc:docMkLst>
        <pc:docMk/>
      </pc:docMkLst>
      <pc:sldChg chg="addSp delSp modSp del mod ord modClrScheme chgLayout">
        <pc:chgData name="Suraj Chalamalla" userId="88a3a2811460c8de" providerId="LiveId" clId="{88AA93BB-B1E0-43CB-9A8C-8BEF66485449}" dt="2026-09-09T08:16:26.946" v="257" actId="20577"/>
        <pc:sldMkLst>
          <pc:docMk/>
          <pc:sldMk cId="0" sldId="256"/>
        </pc:sldMkLst>
        <pc:spChg chg="mod">
          <ac:chgData name="Suraj Chalamalla" userId="88a3a2811460c8de" providerId="LiveId" clId="{88AA93BB-B1E0-43CB-9A8C-8BEF66485449}" dt="2026-09-09T08:16:26.946" v="257" actId="20577"/>
          <ac:spMkLst>
            <pc:docMk/>
            <pc:sldMk cId="0" sldId="256"/>
            <ac:spMk id="2" creationId="{00000000-0000-0000-0000-000000000000}"/>
          </ac:spMkLst>
        </pc:spChg>
        <pc:spChg chg="mod">
          <ac:chgData name="Suraj Chalamalla" userId="88a3a2811460c8de" providerId="LiveId" clId="{88AA93BB-B1E0-43CB-9A8C-8BEF66485449}" dt="2026-09-09T08:02:15.385" v="236" actId="1076"/>
          <ac:spMkLst>
            <pc:docMk/>
            <pc:sldMk cId="0" sldId="256"/>
            <ac:spMk id="3" creationId="{00000000-0000-0000-0000-000000000000}"/>
          </ac:spMkLst>
        </pc:spChg>
        <pc:spChg chg="add del mod">
          <ac:chgData name="Suraj Chalamalla" userId="88a3a2811460c8de" providerId="LiveId" clId="{88AA93BB-B1E0-43CB-9A8C-8BEF66485449}" dt="2026-09-09T06:56:17.896" v="2"/>
          <ac:spMkLst>
            <pc:docMk/>
            <pc:sldMk cId="0" sldId="256"/>
            <ac:spMk id="8" creationId="{54D64970-896A-7D01-E98D-506760536C00}"/>
          </ac:spMkLst>
        </pc:spChg>
      </pc:sldChg>
      <pc:sldChg chg="addSp delSp modSp mod">
        <pc:chgData name="Suraj Chalamalla" userId="88a3a2811460c8de" providerId="LiveId" clId="{88AA93BB-B1E0-43CB-9A8C-8BEF66485449}" dt="2026-09-09T08:06:06.751" v="241" actId="5793"/>
        <pc:sldMkLst>
          <pc:docMk/>
          <pc:sldMk cId="0" sldId="257"/>
        </pc:sldMkLst>
        <pc:spChg chg="mod">
          <ac:chgData name="Suraj Chalamalla" userId="88a3a2811460c8de" providerId="LiveId" clId="{88AA93BB-B1E0-43CB-9A8C-8BEF66485449}" dt="2026-09-09T08:06:06.751" v="241" actId="5793"/>
          <ac:spMkLst>
            <pc:docMk/>
            <pc:sldMk cId="0" sldId="257"/>
            <ac:spMk id="5" creationId="{00000000-0000-0000-0000-000000000000}"/>
          </ac:spMkLst>
        </pc:spChg>
        <pc:spChg chg="add del mod">
          <ac:chgData name="Suraj Chalamalla" userId="88a3a2811460c8de" providerId="LiveId" clId="{88AA93BB-B1E0-43CB-9A8C-8BEF66485449}" dt="2026-09-09T07:03:21.817" v="183"/>
          <ac:spMkLst>
            <pc:docMk/>
            <pc:sldMk cId="0" sldId="257"/>
            <ac:spMk id="6" creationId="{1A7A874E-B492-62E6-A273-75CE5AB20741}"/>
          </ac:spMkLst>
        </pc:spChg>
      </pc:sldChg>
      <pc:sldChg chg="ord">
        <pc:chgData name="Suraj Chalamalla" userId="88a3a2811460c8de" providerId="LiveId" clId="{88AA93BB-B1E0-43CB-9A8C-8BEF66485449}" dt="2026-09-09T07:09:30.491" v="217"/>
        <pc:sldMkLst>
          <pc:docMk/>
          <pc:sldMk cId="0" sldId="259"/>
        </pc:sldMkLst>
      </pc:sldChg>
      <pc:sldChg chg="ord">
        <pc:chgData name="Suraj Chalamalla" userId="88a3a2811460c8de" providerId="LiveId" clId="{88AA93BB-B1E0-43CB-9A8C-8BEF66485449}" dt="2026-09-09T07:09:36.438" v="221"/>
        <pc:sldMkLst>
          <pc:docMk/>
          <pc:sldMk cId="0" sldId="260"/>
        </pc:sldMkLst>
      </pc:sldChg>
      <pc:sldChg chg="add del">
        <pc:chgData name="Suraj Chalamalla" userId="88a3a2811460c8de" providerId="LiveId" clId="{88AA93BB-B1E0-43CB-9A8C-8BEF66485449}" dt="2026-09-09T06:58:57.241" v="37" actId="2696"/>
        <pc:sldMkLst>
          <pc:docMk/>
          <pc:sldMk cId="0" sldId="262"/>
        </pc:sldMkLst>
      </pc:sldChg>
      <pc:sldChg chg="addSp delSp mod">
        <pc:chgData name="Suraj Chalamalla" userId="88a3a2811460c8de" providerId="LiveId" clId="{88AA93BB-B1E0-43CB-9A8C-8BEF66485449}" dt="2026-09-09T08:13:57.845" v="245" actId="478"/>
        <pc:sldMkLst>
          <pc:docMk/>
          <pc:sldMk cId="1672422596" sldId="264"/>
        </pc:sldMkLst>
        <pc:spChg chg="add del">
          <ac:chgData name="Suraj Chalamalla" userId="88a3a2811460c8de" providerId="LiveId" clId="{88AA93BB-B1E0-43CB-9A8C-8BEF66485449}" dt="2026-09-09T08:13:57.845" v="245" actId="478"/>
          <ac:spMkLst>
            <pc:docMk/>
            <pc:sldMk cId="1672422596" sldId="264"/>
            <ac:spMk id="6" creationId="{00000000-0000-0000-0000-000000000000}"/>
          </ac:spMkLst>
        </pc:spChg>
      </pc:sldChg>
      <pc:sldChg chg="ord">
        <pc:chgData name="Suraj Chalamalla" userId="88a3a2811460c8de" providerId="LiveId" clId="{88AA93BB-B1E0-43CB-9A8C-8BEF66485449}" dt="2026-09-09T08:07:49.075" v="243"/>
        <pc:sldMkLst>
          <pc:docMk/>
          <pc:sldMk cId="3441026644" sldId="265"/>
        </pc:sldMkLst>
      </pc:sldChg>
      <pc:sldChg chg="modSp mod ord">
        <pc:chgData name="Suraj Chalamalla" userId="88a3a2811460c8de" providerId="LiveId" clId="{88AA93BB-B1E0-43CB-9A8C-8BEF66485449}" dt="2026-09-09T07:09:32.812" v="219"/>
        <pc:sldMkLst>
          <pc:docMk/>
          <pc:sldMk cId="2292750904" sldId="266"/>
        </pc:sldMkLst>
        <pc:spChg chg="mod">
          <ac:chgData name="Suraj Chalamalla" userId="88a3a2811460c8de" providerId="LiveId" clId="{88AA93BB-B1E0-43CB-9A8C-8BEF66485449}" dt="2026-09-09T07:07:12.477" v="211" actId="1076"/>
          <ac:spMkLst>
            <pc:docMk/>
            <pc:sldMk cId="2292750904" sldId="266"/>
            <ac:spMk id="5" creationId="{00000000-0000-0000-0000-000000000000}"/>
          </ac:spMkLst>
        </pc:spChg>
      </pc:sldChg>
      <pc:sldChg chg="ord">
        <pc:chgData name="Suraj Chalamalla" userId="88a3a2811460c8de" providerId="LiveId" clId="{88AA93BB-B1E0-43CB-9A8C-8BEF66485449}" dt="2026-09-09T07:09:27.204" v="215"/>
        <pc:sldMkLst>
          <pc:docMk/>
          <pc:sldMk cId="106092222" sldId="267"/>
        </pc:sldMkLst>
      </pc:sldChg>
      <pc:sldChg chg="ord">
        <pc:chgData name="Suraj Chalamalla" userId="88a3a2811460c8de" providerId="LiveId" clId="{88AA93BB-B1E0-43CB-9A8C-8BEF66485449}" dt="2026-09-09T07:08:20.964" v="213"/>
        <pc:sldMkLst>
          <pc:docMk/>
          <pc:sldMk cId="0" sldId="269"/>
        </pc:sldMkLst>
      </pc:sldChg>
    </pc:docChg>
  </pc:docChgLst>
  <pc:docChgLst>
    <pc:chgData clId="Web-{82A76A6C-4160-EA90-EFD9-CDB22F1E31EC}"/>
    <pc:docChg chg="modSld">
      <pc:chgData name="" userId="" providerId="" clId="Web-{82A76A6C-4160-EA90-EFD9-CDB22F1E31EC}" dt="2026-09-09T06:57:19.230" v="59" actId="20577"/>
      <pc:docMkLst>
        <pc:docMk/>
      </pc:docMkLst>
      <pc:sldChg chg="modSp">
        <pc:chgData name="" userId="" providerId="" clId="Web-{82A76A6C-4160-EA90-EFD9-CDB22F1E31EC}" dt="2026-09-09T06:56:33.791" v="9" actId="20577"/>
        <pc:sldMkLst>
          <pc:docMk/>
          <pc:sldMk cId="0" sldId="257"/>
        </pc:sldMkLst>
        <pc:spChg chg="mod">
          <ac:chgData name="" userId="" providerId="" clId="Web-{82A76A6C-4160-EA90-EFD9-CDB22F1E31EC}" dt="2026-09-09T06:56:33.791" v="9" actId="20577"/>
          <ac:spMkLst>
            <pc:docMk/>
            <pc:sldMk cId="0" sldId="257"/>
            <ac:spMk id="3" creationId="{00000000-0000-0000-0000-000000000000}"/>
          </ac:spMkLst>
        </pc:spChg>
      </pc:sldChg>
      <pc:sldChg chg="modSp">
        <pc:chgData name="" userId="" providerId="" clId="Web-{82A76A6C-4160-EA90-EFD9-CDB22F1E31EC}" dt="2026-09-09T06:57:03.730" v="40" actId="20577"/>
        <pc:sldMkLst>
          <pc:docMk/>
          <pc:sldMk cId="0" sldId="258"/>
        </pc:sldMkLst>
        <pc:spChg chg="mod">
          <ac:chgData name="" userId="" providerId="" clId="Web-{82A76A6C-4160-EA90-EFD9-CDB22F1E31EC}" dt="2026-09-09T06:57:03.730" v="40" actId="20577"/>
          <ac:spMkLst>
            <pc:docMk/>
            <pc:sldMk cId="0" sldId="258"/>
            <ac:spMk id="3" creationId="{00000000-0000-0000-0000-000000000000}"/>
          </ac:spMkLst>
        </pc:spChg>
      </pc:sldChg>
      <pc:sldChg chg="modSp">
        <pc:chgData name="" userId="" providerId="" clId="Web-{82A76A6C-4160-EA90-EFD9-CDB22F1E31EC}" dt="2026-09-09T06:57:09.699" v="45" actId="20577"/>
        <pc:sldMkLst>
          <pc:docMk/>
          <pc:sldMk cId="0" sldId="261"/>
        </pc:sldMkLst>
        <pc:spChg chg="mod">
          <ac:chgData name="" userId="" providerId="" clId="Web-{82A76A6C-4160-EA90-EFD9-CDB22F1E31EC}" dt="2026-09-09T06:57:09.699" v="45" actId="20577"/>
          <ac:spMkLst>
            <pc:docMk/>
            <pc:sldMk cId="0" sldId="261"/>
            <ac:spMk id="3" creationId="{00000000-0000-0000-0000-000000000000}"/>
          </ac:spMkLst>
        </pc:spChg>
      </pc:sldChg>
      <pc:sldChg chg="modSp">
        <pc:chgData name="" userId="" providerId="" clId="Web-{82A76A6C-4160-EA90-EFD9-CDB22F1E31EC}" dt="2026-09-09T06:56:58.120" v="28" actId="20577"/>
        <pc:sldMkLst>
          <pc:docMk/>
          <pc:sldMk cId="1672422596" sldId="264"/>
        </pc:sldMkLst>
        <pc:spChg chg="mod">
          <ac:chgData name="" userId="" providerId="" clId="Web-{82A76A6C-4160-EA90-EFD9-CDB22F1E31EC}" dt="2026-09-09T06:56:58.120" v="28" actId="20577"/>
          <ac:spMkLst>
            <pc:docMk/>
            <pc:sldMk cId="1672422596" sldId="264"/>
            <ac:spMk id="3" creationId="{00000000-0000-0000-0000-000000000000}"/>
          </ac:spMkLst>
        </pc:spChg>
      </pc:sldChg>
      <pc:sldChg chg="modSp">
        <pc:chgData name="" userId="" providerId="" clId="Web-{82A76A6C-4160-EA90-EFD9-CDB22F1E31EC}" dt="2026-09-09T06:57:19.230" v="59" actId="20577"/>
        <pc:sldMkLst>
          <pc:docMk/>
          <pc:sldMk cId="3441026644" sldId="265"/>
        </pc:sldMkLst>
        <pc:spChg chg="mod">
          <ac:chgData name="" userId="" providerId="" clId="Web-{82A76A6C-4160-EA90-EFD9-CDB22F1E31EC}" dt="2026-09-09T06:57:19.230" v="59" actId="20577"/>
          <ac:spMkLst>
            <pc:docMk/>
            <pc:sldMk cId="3441026644" sldId="265"/>
            <ac:spMk id="3" creationId="{00000000-0000-0000-0000-000000000000}"/>
          </ac:spMkLst>
        </pc:spChg>
      </pc:sldChg>
    </pc:docChg>
  </pc:docChgLst>
  <pc:docChgLst>
    <pc:chgData name="Guest User" providerId="Windows Live" clId="Web-{B4C1B7C9-6F96-E903-5730-A9281F2368ED}"/>
    <pc:docChg chg="modSld">
      <pc:chgData name="Guest User" userId="" providerId="Windows Live" clId="Web-{B4C1B7C9-6F96-E903-5730-A9281F2368ED}" dt="2026-09-09T08:08:33.380" v="22"/>
      <pc:docMkLst>
        <pc:docMk/>
      </pc:docMkLst>
      <pc:sldChg chg="modSp">
        <pc:chgData name="Guest User" userId="" providerId="Windows Live" clId="Web-{B4C1B7C9-6F96-E903-5730-A9281F2368ED}" dt="2026-09-09T08:08:11.630" v="20" actId="20577"/>
        <pc:sldMkLst>
          <pc:docMk/>
          <pc:sldMk cId="0" sldId="258"/>
        </pc:sldMkLst>
        <pc:spChg chg="mod">
          <ac:chgData name="Guest User" userId="" providerId="Windows Live" clId="Web-{B4C1B7C9-6F96-E903-5730-A9281F2368ED}" dt="2026-09-09T08:08:11.630" v="20" actId="20577"/>
          <ac:spMkLst>
            <pc:docMk/>
            <pc:sldMk cId="0" sldId="258"/>
            <ac:spMk id="3" creationId="{00000000-0000-0000-0000-000000000000}"/>
          </ac:spMkLst>
        </pc:spChg>
      </pc:sldChg>
      <pc:sldChg chg="mod modShow">
        <pc:chgData name="Guest User" userId="" providerId="Windows Live" clId="Web-{B4C1B7C9-6F96-E903-5730-A9281F2368ED}" dt="2026-09-09T08:08:33.380" v="22"/>
        <pc:sldMkLst>
          <pc:docMk/>
          <pc:sldMk cId="0" sldId="269"/>
        </pc:sldMkLst>
      </pc:sldChg>
    </pc:docChg>
  </pc:docChgLst>
  <pc:docChgLst>
    <pc:chgData name="Guest User" providerId="Windows Live" clId="Web-{82A76A6C-4160-EA90-EFD9-CDB22F1E31EC}"/>
    <pc:docChg chg="modSld">
      <pc:chgData name="Guest User" userId="" providerId="Windows Live" clId="Web-{82A76A6C-4160-EA90-EFD9-CDB22F1E31EC}" dt="2026-09-09T07:02:24.379" v="66" actId="20577"/>
      <pc:docMkLst>
        <pc:docMk/>
      </pc:docMkLst>
      <pc:sldChg chg="modSp">
        <pc:chgData name="Guest User" userId="" providerId="Windows Live" clId="Web-{82A76A6C-4160-EA90-EFD9-CDB22F1E31EC}" dt="2026-09-09T07:02:24.379" v="66" actId="20577"/>
        <pc:sldMkLst>
          <pc:docMk/>
          <pc:sldMk cId="0" sldId="257"/>
        </pc:sldMkLst>
        <pc:spChg chg="mod">
          <ac:chgData name="Guest User" userId="" providerId="Windows Live" clId="Web-{82A76A6C-4160-EA90-EFD9-CDB22F1E31EC}" dt="2026-09-09T07:02:24.379" v="66" actId="20577"/>
          <ac:spMkLst>
            <pc:docMk/>
            <pc:sldMk cId="0" sldId="257"/>
            <ac:spMk id="5" creationId="{00000000-0000-0000-0000-000000000000}"/>
          </ac:spMkLst>
        </pc:spChg>
      </pc:sldChg>
      <pc:sldChg chg="modSp">
        <pc:chgData name="Guest User" userId="" providerId="Windows Live" clId="Web-{82A76A6C-4160-EA90-EFD9-CDB22F1E31EC}" dt="2026-09-09T06:57:28.746" v="13" actId="20577"/>
        <pc:sldMkLst>
          <pc:docMk/>
          <pc:sldMk cId="0" sldId="259"/>
        </pc:sldMkLst>
        <pc:spChg chg="mod">
          <ac:chgData name="Guest User" userId="" providerId="Windows Live" clId="Web-{82A76A6C-4160-EA90-EFD9-CDB22F1E31EC}" dt="2026-09-09T06:57:28.746" v="13" actId="20577"/>
          <ac:spMkLst>
            <pc:docMk/>
            <pc:sldMk cId="0" sldId="259"/>
            <ac:spMk id="3" creationId="{00000000-0000-0000-0000-000000000000}"/>
          </ac:spMkLst>
        </pc:spChg>
      </pc:sldChg>
      <pc:sldChg chg="modSp">
        <pc:chgData name="Guest User" userId="" providerId="Windows Live" clId="Web-{82A76A6C-4160-EA90-EFD9-CDB22F1E31EC}" dt="2026-09-09T06:57:51.450" v="64" actId="20577"/>
        <pc:sldMkLst>
          <pc:docMk/>
          <pc:sldMk cId="0" sldId="260"/>
        </pc:sldMkLst>
        <pc:spChg chg="mod">
          <ac:chgData name="Guest User" userId="" providerId="Windows Live" clId="Web-{82A76A6C-4160-EA90-EFD9-CDB22F1E31EC}" dt="2026-09-09T06:57:51.450" v="64" actId="20577"/>
          <ac:spMkLst>
            <pc:docMk/>
            <pc:sldMk cId="0" sldId="260"/>
            <ac:spMk id="3" creationId="{00000000-0000-0000-0000-000000000000}"/>
          </ac:spMkLst>
        </pc:spChg>
      </pc:sldChg>
      <pc:sldChg chg="modSp">
        <pc:chgData name="Guest User" userId="" providerId="Windows Live" clId="Web-{82A76A6C-4160-EA90-EFD9-CDB22F1E31EC}" dt="2026-09-09T06:57:21.996" v="0" actId="20577"/>
        <pc:sldMkLst>
          <pc:docMk/>
          <pc:sldMk cId="3441026644" sldId="265"/>
        </pc:sldMkLst>
        <pc:spChg chg="mod">
          <ac:chgData name="Guest User" userId="" providerId="Windows Live" clId="Web-{82A76A6C-4160-EA90-EFD9-CDB22F1E31EC}" dt="2026-09-09T06:57:21.996" v="0" actId="20577"/>
          <ac:spMkLst>
            <pc:docMk/>
            <pc:sldMk cId="3441026644" sldId="265"/>
            <ac:spMk id="3" creationId="{00000000-0000-0000-0000-000000000000}"/>
          </ac:spMkLst>
        </pc:spChg>
      </pc:sldChg>
      <pc:sldChg chg="modSp">
        <pc:chgData name="Guest User" userId="" providerId="Windows Live" clId="Web-{82A76A6C-4160-EA90-EFD9-CDB22F1E31EC}" dt="2026-09-09T06:57:44.559" v="48" actId="20577"/>
        <pc:sldMkLst>
          <pc:docMk/>
          <pc:sldMk cId="2292750904" sldId="266"/>
        </pc:sldMkLst>
        <pc:spChg chg="mod">
          <ac:chgData name="Guest User" userId="" providerId="Windows Live" clId="Web-{82A76A6C-4160-EA90-EFD9-CDB22F1E31EC}" dt="2026-09-09T06:57:44.559" v="48" actId="20577"/>
          <ac:spMkLst>
            <pc:docMk/>
            <pc:sldMk cId="2292750904" sldId="266"/>
            <ac:spMk id="3" creationId="{00000000-0000-0000-0000-000000000000}"/>
          </ac:spMkLst>
        </pc:spChg>
      </pc:sldChg>
      <pc:sldChg chg="modSp">
        <pc:chgData name="Guest User" userId="" providerId="Windows Live" clId="Web-{82A76A6C-4160-EA90-EFD9-CDB22F1E31EC}" dt="2026-09-09T06:57:34.793" v="27" actId="20577"/>
        <pc:sldMkLst>
          <pc:docMk/>
          <pc:sldMk cId="106092222" sldId="267"/>
        </pc:sldMkLst>
        <pc:spChg chg="mod">
          <ac:chgData name="Guest User" userId="" providerId="Windows Live" clId="Web-{82A76A6C-4160-EA90-EFD9-CDB22F1E31EC}" dt="2026-09-09T06:57:34.793" v="27" actId="20577"/>
          <ac:spMkLst>
            <pc:docMk/>
            <pc:sldMk cId="106092222" sldId="267"/>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0455" y="1512107"/>
            <a:ext cx="9144000" cy="1916893"/>
          </a:xfrm>
        </p:spPr>
        <p:txBody>
          <a:bodyPr/>
          <a:lstStyle/>
          <a:p>
            <a:br>
              <a:rPr lang="en-US" b="1">
                <a:solidFill>
                  <a:srgbClr val="C00000"/>
                </a:solidFill>
                <a:latin typeface="+mn-lt"/>
              </a:rPr>
            </a:br>
            <a:br>
              <a:rPr lang="en-US" b="1">
                <a:solidFill>
                  <a:srgbClr val="C00000"/>
                </a:solidFill>
                <a:latin typeface="+mn-lt"/>
              </a:rPr>
            </a:br>
            <a:br>
              <a:rPr lang="en-US" b="1">
                <a:solidFill>
                  <a:srgbClr val="C00000"/>
                </a:solidFill>
                <a:latin typeface="+mn-lt"/>
              </a:rPr>
            </a:br>
            <a:br>
              <a:rPr lang="en-US" b="1">
                <a:solidFill>
                  <a:srgbClr val="C00000"/>
                </a:solidFill>
                <a:latin typeface="+mn-lt"/>
              </a:rPr>
            </a:br>
            <a:br>
              <a:rPr lang="en-US" b="1">
                <a:solidFill>
                  <a:srgbClr val="C00000"/>
                </a:solidFill>
                <a:latin typeface="+mn-lt"/>
              </a:rPr>
            </a:br>
            <a:br>
              <a:rPr lang="en-US" b="1">
                <a:solidFill>
                  <a:srgbClr val="C00000"/>
                </a:solidFill>
                <a:latin typeface="+mn-lt"/>
              </a:rPr>
            </a:br>
            <a:br>
              <a:rPr lang="en-US" sz="4000" b="1">
                <a:solidFill>
                  <a:srgbClr val="C00000"/>
                </a:solidFill>
                <a:latin typeface="+mn-lt"/>
              </a:rPr>
            </a:br>
            <a:r>
              <a:rPr lang="en-US" sz="4000" b="1">
                <a:solidFill>
                  <a:srgbClr val="C00000"/>
                </a:solidFill>
                <a:latin typeface="+mn-lt"/>
              </a:rPr>
              <a:t>Data Structures and Algorithms -3 (25CS2103E)</a:t>
            </a:r>
            <a:br>
              <a:rPr lang="en-US" sz="4000" b="1">
                <a:solidFill>
                  <a:srgbClr val="C00000"/>
                </a:solidFill>
                <a:latin typeface="+mn-lt"/>
              </a:rPr>
            </a:br>
            <a:br>
              <a:rPr lang="en-US" sz="4000" b="1">
                <a:solidFill>
                  <a:srgbClr val="C00000"/>
                </a:solidFill>
                <a:latin typeface="+mn-lt"/>
              </a:rPr>
            </a:br>
            <a:r>
              <a:rPr lang="en-IN" sz="4000" b="1">
                <a:solidFill>
                  <a:srgbClr val="FF0000"/>
                </a:solidFill>
              </a:rPr>
              <a:t>Fastest Keyword Search Engine for Indian-Language Wikipedia </a:t>
            </a:r>
            <a:br>
              <a:rPr lang="en-IN" sz="4000"/>
            </a:br>
            <a:endParaRPr lang="en-US" sz="4000" b="1">
              <a:solidFill>
                <a:srgbClr val="C00000"/>
              </a:solidFill>
              <a:latin typeface="+mn-lt"/>
            </a:endParaRPr>
          </a:p>
        </p:txBody>
      </p:sp>
      <p:sp>
        <p:nvSpPr>
          <p:cNvPr id="3" name="Subtitle 2"/>
          <p:cNvSpPr>
            <a:spLocks noGrp="1"/>
          </p:cNvSpPr>
          <p:nvPr>
            <p:ph type="subTitle" idx="1"/>
          </p:nvPr>
        </p:nvSpPr>
        <p:spPr>
          <a:xfrm>
            <a:off x="4316813" y="2897983"/>
            <a:ext cx="4551284" cy="2183591"/>
          </a:xfrm>
        </p:spPr>
        <p:txBody>
          <a:bodyPr/>
          <a:lstStyle/>
          <a:p>
            <a:r>
              <a:rPr lang="en-US">
                <a:solidFill>
                  <a:srgbClr val="0070C0"/>
                </a:solidFill>
              </a:rPr>
              <a:t>Team Members</a:t>
            </a:r>
          </a:p>
          <a:p>
            <a:r>
              <a:rPr lang="en-US">
                <a:solidFill>
                  <a:srgbClr val="0070C0"/>
                </a:solidFill>
              </a:rPr>
              <a:t>G. Kevin Josh – 2520030213</a:t>
            </a:r>
          </a:p>
          <a:p>
            <a:r>
              <a:rPr lang="en-US">
                <a:solidFill>
                  <a:srgbClr val="0070C0"/>
                </a:solidFill>
              </a:rPr>
              <a:t>Ch.Suraj – 2520030355</a:t>
            </a:r>
          </a:p>
          <a:p>
            <a:r>
              <a:rPr lang="en-US">
                <a:solidFill>
                  <a:srgbClr val="0070C0"/>
                </a:solidFill>
              </a:rPr>
              <a:t>Chaitanya - 2520039619</a:t>
            </a:r>
          </a:p>
          <a:p>
            <a:pPr marL="171450" algn="ctr">
              <a:lnSpc>
                <a:spcPct val="107000"/>
              </a:lnSpc>
              <a:spcAft>
                <a:spcPts val="800"/>
              </a:spcAft>
            </a:pPr>
            <a:endParaRPr lang="en-US">
              <a:solidFill>
                <a:srgbClr val="0070C0"/>
              </a:solidFill>
            </a:endParaRPr>
          </a:p>
          <a:p>
            <a:pPr marL="171450" algn="ctr">
              <a:lnSpc>
                <a:spcPct val="107000"/>
              </a:lnSpc>
              <a:spcAft>
                <a:spcPts val="800"/>
              </a:spcAft>
            </a:pPr>
            <a:r>
              <a:rPr lang="en-US" sz="1800" kern="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a:effectLst/>
              <a:latin typeface="Calibri" panose="020F0502020204030204" pitchFamily="34" charset="0"/>
              <a:ea typeface="Calibri" panose="020F0502020204030204" pitchFamily="34" charset="0"/>
              <a:cs typeface="Gautami" panose="020B0502040204020203" pitchFamily="34" charset="0"/>
            </a:endParaRPr>
          </a:p>
          <a:p>
            <a:r>
              <a:rPr lang="en-US">
                <a:solidFill>
                  <a:srgbClr val="0070C0"/>
                </a:solidFill>
              </a:rPr>
              <a:t>Guide: Mrs. J Yamini Devi</a:t>
            </a:r>
          </a:p>
          <a:p>
            <a:r>
              <a:rPr lang="en-US" b="1">
                <a:solidFill>
                  <a:srgbClr val="C00000"/>
                </a:solidFill>
              </a:rPr>
              <a:t>Professor |CSE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a:solidFill>
                  <a:srgbClr val="000000"/>
                </a:solidFill>
                <a:effectLst/>
                <a:latin typeface="Calibri" panose="020F0502020204030204" pitchFamily="34" charset="0"/>
              </a:rPr>
              <a:t>Introduction</a:t>
            </a:r>
            <a:endParaRPr lang="en-IN" sz="3200" b="0" i="0" u="none" strike="noStrike">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a:effectLst/>
              <a:latin typeface="Arial" panose="020B0604020202020204" pitchFamily="34" charset="0"/>
            </a:endParaRPr>
          </a:p>
          <a:p>
            <a:endParaRPr lang="en-IN"/>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5901552" cy="523220"/>
          </a:xfrm>
          <a:prstGeom prst="rect">
            <a:avLst/>
          </a:prstGeom>
          <a:noFill/>
        </p:spPr>
        <p:txBody>
          <a:bodyPr wrap="none" lIns="91440" tIns="45720" rIns="91440" bIns="45720" anchor="t">
            <a:spAutoFit/>
          </a:bodyPr>
          <a:lstStyle/>
          <a:p>
            <a:r>
              <a:rPr lang="en-US" sz="2800" b="1">
                <a:solidFill>
                  <a:srgbClr val="162640"/>
                </a:solidFill>
                <a:latin typeface="Aptos Display"/>
              </a:rPr>
              <a:t>                                                                </a:t>
            </a:r>
            <a:r>
              <a:rPr sz="2800" b="1">
                <a:solidFill>
                  <a:srgbClr val="162640"/>
                </a:solidFill>
                <a:latin typeface="Aptos Display"/>
              </a:rPr>
              <a:t>Abstract</a:t>
            </a:r>
          </a:p>
        </p:txBody>
      </p:sp>
      <p:sp>
        <p:nvSpPr>
          <p:cNvPr id="4" name="TextBox 3"/>
          <p:cNvSpPr txBox="1"/>
          <p:nvPr/>
        </p:nvSpPr>
        <p:spPr>
          <a:xfrm>
            <a:off x="11155680" y="6419088"/>
            <a:ext cx="457200" cy="228600"/>
          </a:xfrm>
          <a:prstGeom prst="rect">
            <a:avLst/>
          </a:prstGeom>
          <a:noFill/>
        </p:spPr>
        <p:txBody>
          <a:bodyPr wrap="none">
            <a:spAutoFit/>
          </a:bodyPr>
          <a:lstStyle/>
          <a:p>
            <a:pPr algn="r"/>
            <a:r>
              <a:rPr sz="1000">
                <a:solidFill>
                  <a:srgbClr val="5C6878"/>
                </a:solidFill>
              </a:rPr>
              <a:t>2</a:t>
            </a:r>
          </a:p>
        </p:txBody>
      </p:sp>
      <p:sp>
        <p:nvSpPr>
          <p:cNvPr id="5" name="TextBox 4"/>
          <p:cNvSpPr txBox="1"/>
          <p:nvPr/>
        </p:nvSpPr>
        <p:spPr>
          <a:xfrm>
            <a:off x="579120" y="1126724"/>
            <a:ext cx="10804227" cy="4471993"/>
          </a:xfrm>
          <a:prstGeom prst="rect">
            <a:avLst/>
          </a:prstGeom>
          <a:noFill/>
        </p:spPr>
        <p:txBody>
          <a:bodyPr wrap="square" lIns="45720" tIns="27432" rIns="45720" bIns="27432" anchor="t">
            <a:spAutoFit/>
          </a:bodyPr>
          <a:lstStyle/>
          <a:p>
            <a:pPr marL="285750" indent="-285750">
              <a:buFont typeface="Arial" panose="020B0604020202020204" pitchFamily="34" charset="0"/>
              <a:buChar char="•"/>
            </a:pPr>
            <a:r>
              <a:rPr lang="en-US"/>
              <a:t> </a:t>
            </a:r>
            <a:r>
              <a:rPr lang="en-IN"/>
              <a:t>This project presents a </a:t>
            </a:r>
            <a:r>
              <a:rPr lang="en-IN" b="1"/>
              <a:t>fast keyword-based text analytics and search engine for large Indian-language Wikipedia corpora</a:t>
            </a:r>
            <a:r>
              <a:rPr lang="en-IN"/>
              <a:t>. The system is designed to efficiently retrieve relevant documents from a large collection of text while supporting the Unicode characters used by Indian languages. The corpus is first processed through </a:t>
            </a:r>
            <a:r>
              <a:rPr lang="en-IN" b="1"/>
              <a:t>text cleaning, Unicode normalization, and tokenization</a:t>
            </a:r>
            <a:r>
              <a:rPr lang="en-IN"/>
              <a:t> to prepare the data for efficient searching.</a:t>
            </a:r>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a:t>An </a:t>
            </a:r>
            <a:r>
              <a:rPr lang="en-IN" b="1"/>
              <a:t>inverted index</a:t>
            </a:r>
            <a:r>
              <a:rPr lang="en-IN"/>
              <a:t> is then constructed, mapping each keyword to the documents in which it occurs. This eliminates the need to scan every document for each search query and significantly improves retrieval efficiency. The system supports both </a:t>
            </a:r>
            <a:r>
              <a:rPr lang="en-IN" b="1"/>
              <a:t>single-keyword and multiple-keyword searches</a:t>
            </a:r>
            <a:r>
              <a:rPr lang="en-IN"/>
              <a:t>, allowing users to retrieve documents containing one or more requested terms.</a:t>
            </a:r>
          </a:p>
          <a:p>
            <a:endParaRPr lang="en-IN"/>
          </a:p>
          <a:p>
            <a:pPr marL="285750" indent="-285750">
              <a:buFont typeface="Arial" panose="020B0604020202020204" pitchFamily="34" charset="0"/>
              <a:buChar char="•"/>
            </a:pPr>
            <a:r>
              <a:rPr lang="en-IN"/>
              <a:t>The project primarily focuses on the application of </a:t>
            </a:r>
            <a:r>
              <a:rPr lang="en-IN" b="1"/>
              <a:t>data structures and algorithms</a:t>
            </a:r>
            <a:r>
              <a:rPr lang="en-IN"/>
              <a:t> such as hash tables/dictionaries, lists, sets, inverted indexes, searching, set operations, and ranking. The proposed approach provides a scalable foundation for searching large Indian-language text collections and can be extended in the future with advanced ranking, semantic search, distributed indexing, and support for additional Indian languages.</a:t>
            </a:r>
          </a:p>
          <a:p>
            <a:pPr>
              <a:spcAft>
                <a:spcPts val="700"/>
              </a:spcAft>
              <a:defRPr sz="1700">
                <a:solidFill>
                  <a:srgbClr val="232B37"/>
                </a:solidFill>
                <a:latin typeface="Aptos"/>
              </a:defRPr>
            </a:pP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6472028" cy="523220"/>
          </a:xfrm>
          <a:prstGeom prst="rect">
            <a:avLst/>
          </a:prstGeom>
          <a:noFill/>
        </p:spPr>
        <p:txBody>
          <a:bodyPr wrap="none" lIns="91440" tIns="45720" rIns="91440" bIns="45720" anchor="t">
            <a:spAutoFit/>
          </a:bodyPr>
          <a:lstStyle/>
          <a:p>
            <a:r>
              <a:rPr lang="en-US" sz="2800" b="1">
                <a:solidFill>
                  <a:srgbClr val="162640"/>
                </a:solidFill>
                <a:latin typeface="Aptos Display"/>
              </a:rPr>
              <a:t>                                                                </a:t>
            </a:r>
            <a:r>
              <a:rPr sz="2800" b="1">
                <a:solidFill>
                  <a:srgbClr val="162640"/>
                </a:solidFill>
                <a:latin typeface="Aptos Display"/>
              </a:rPr>
              <a:t>Introduction</a:t>
            </a:r>
          </a:p>
        </p:txBody>
      </p:sp>
      <p:sp>
        <p:nvSpPr>
          <p:cNvPr id="4" name="TextBox 3"/>
          <p:cNvSpPr txBox="1"/>
          <p:nvPr/>
        </p:nvSpPr>
        <p:spPr>
          <a:xfrm>
            <a:off x="11155680" y="6419088"/>
            <a:ext cx="457200" cy="228600"/>
          </a:xfrm>
          <a:prstGeom prst="rect">
            <a:avLst/>
          </a:prstGeom>
          <a:noFill/>
        </p:spPr>
        <p:txBody>
          <a:bodyPr wrap="none">
            <a:spAutoFit/>
          </a:bodyPr>
          <a:lstStyle/>
          <a:p>
            <a:pPr algn="r"/>
            <a:r>
              <a:rPr sz="1000">
                <a:solidFill>
                  <a:srgbClr val="5C6878"/>
                </a:solidFill>
              </a:rPr>
              <a:t>3</a:t>
            </a:r>
          </a:p>
        </p:txBody>
      </p:sp>
      <p:sp>
        <p:nvSpPr>
          <p:cNvPr id="5" name="Rounded Rectangle 4"/>
          <p:cNvSpPr/>
          <p:nvPr/>
        </p:nvSpPr>
        <p:spPr>
          <a:xfrm>
            <a:off x="731520" y="1325880"/>
            <a:ext cx="3429000" cy="4251960"/>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1. Corpus</a:t>
            </a:r>
          </a:p>
          <a:p>
            <a:pPr>
              <a:spcAft>
                <a:spcPts val="300"/>
              </a:spcAft>
              <a:defRPr sz="1350">
                <a:solidFill>
                  <a:srgbClr val="232B37"/>
                </a:solidFill>
                <a:latin typeface="Aptos"/>
              </a:defRPr>
            </a:pPr>
            <a:r>
              <a:t>Large Indian-language Wikipedia text collection.</a:t>
            </a:r>
          </a:p>
          <a:p>
            <a:pPr>
              <a:spcAft>
                <a:spcPts val="300"/>
              </a:spcAft>
              <a:defRPr sz="1350">
                <a:solidFill>
                  <a:srgbClr val="232B37"/>
                </a:solidFill>
                <a:latin typeface="Aptos"/>
              </a:defRPr>
            </a:pPr>
            <a:endParaRPr/>
          </a:p>
          <a:p>
            <a:pPr>
              <a:spcAft>
                <a:spcPts val="300"/>
              </a:spcAft>
              <a:defRPr sz="1350">
                <a:solidFill>
                  <a:srgbClr val="232B37"/>
                </a:solidFill>
                <a:latin typeface="Aptos"/>
              </a:defRPr>
            </a:pPr>
            <a:r>
              <a:t>The corpus may contain thousands or millions of text records, making repeated full scans expensive.</a:t>
            </a:r>
          </a:p>
        </p:txBody>
      </p:sp>
      <p:sp>
        <p:nvSpPr>
          <p:cNvPr id="6" name="Rounded Rectangle 5"/>
          <p:cNvSpPr/>
          <p:nvPr/>
        </p:nvSpPr>
        <p:spPr>
          <a:xfrm>
            <a:off x="4389120" y="1325880"/>
            <a:ext cx="3429000" cy="4251960"/>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2. Preprocessing</a:t>
            </a:r>
          </a:p>
          <a:p>
            <a:pPr>
              <a:spcAft>
                <a:spcPts val="300"/>
              </a:spcAft>
              <a:defRPr sz="1350">
                <a:solidFill>
                  <a:srgbClr val="232B37"/>
                </a:solidFill>
                <a:latin typeface="Aptos"/>
              </a:defRPr>
            </a:pPr>
            <a:r>
              <a:t>Unicode-aware text cleaning</a:t>
            </a:r>
          </a:p>
          <a:p>
            <a:pPr>
              <a:spcAft>
                <a:spcPts val="300"/>
              </a:spcAft>
              <a:defRPr sz="1350">
                <a:solidFill>
                  <a:srgbClr val="232B37"/>
                </a:solidFill>
                <a:latin typeface="Aptos"/>
              </a:defRPr>
            </a:pPr>
            <a:r>
              <a:t>Tokenization</a:t>
            </a:r>
          </a:p>
          <a:p>
            <a:pPr>
              <a:spcAft>
                <a:spcPts val="300"/>
              </a:spcAft>
              <a:defRPr sz="1350">
                <a:solidFill>
                  <a:srgbClr val="232B37"/>
                </a:solidFill>
                <a:latin typeface="Aptos"/>
              </a:defRPr>
            </a:pPr>
            <a:r>
              <a:t>Normalization</a:t>
            </a:r>
          </a:p>
          <a:p>
            <a:pPr>
              <a:spcAft>
                <a:spcPts val="300"/>
              </a:spcAft>
              <a:defRPr sz="1350">
                <a:solidFill>
                  <a:srgbClr val="232B37"/>
                </a:solidFill>
                <a:latin typeface="Aptos"/>
              </a:defRPr>
            </a:pPr>
            <a:r>
              <a:t>Removal of unwanted symbols/noise</a:t>
            </a:r>
          </a:p>
          <a:p>
            <a:pPr>
              <a:spcAft>
                <a:spcPts val="300"/>
              </a:spcAft>
              <a:defRPr sz="1350">
                <a:solidFill>
                  <a:srgbClr val="232B37"/>
                </a:solidFill>
                <a:latin typeface="Aptos"/>
              </a:defRPr>
            </a:pPr>
            <a:endParaRPr/>
          </a:p>
          <a:p>
            <a:pPr>
              <a:spcAft>
                <a:spcPts val="300"/>
              </a:spcAft>
              <a:defRPr sz="1350">
                <a:solidFill>
                  <a:srgbClr val="232B37"/>
                </a:solidFill>
                <a:latin typeface="Aptos"/>
              </a:defRPr>
            </a:pPr>
            <a:r>
              <a:t>Output: searchable tokens</a:t>
            </a:r>
          </a:p>
        </p:txBody>
      </p:sp>
      <p:sp>
        <p:nvSpPr>
          <p:cNvPr id="7" name="Rounded Rectangle 6"/>
          <p:cNvSpPr/>
          <p:nvPr/>
        </p:nvSpPr>
        <p:spPr>
          <a:xfrm>
            <a:off x="8046720" y="1325880"/>
            <a:ext cx="3429000" cy="4251960"/>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3. Search &amp; Ranking</a:t>
            </a:r>
          </a:p>
          <a:p>
            <a:pPr>
              <a:spcAft>
                <a:spcPts val="300"/>
              </a:spcAft>
              <a:defRPr sz="1350">
                <a:solidFill>
                  <a:srgbClr val="232B37"/>
                </a:solidFill>
                <a:latin typeface="Aptos"/>
              </a:defRPr>
            </a:pPr>
            <a:r>
              <a:t>Build inverted index before queries.</a:t>
            </a:r>
          </a:p>
          <a:p>
            <a:pPr>
              <a:spcAft>
                <a:spcPts val="300"/>
              </a:spcAft>
              <a:defRPr sz="1350">
                <a:solidFill>
                  <a:srgbClr val="232B37"/>
                </a:solidFill>
                <a:latin typeface="Aptos"/>
              </a:defRPr>
            </a:pPr>
            <a:endParaRPr/>
          </a:p>
          <a:p>
            <a:pPr>
              <a:spcAft>
                <a:spcPts val="300"/>
              </a:spcAft>
              <a:defRPr sz="1350">
                <a:solidFill>
                  <a:srgbClr val="232B37"/>
                </a:solidFill>
                <a:latin typeface="Aptos"/>
              </a:defRPr>
            </a:pPr>
            <a:r>
              <a:t>Lookup matching documents directly.</a:t>
            </a:r>
          </a:p>
          <a:p>
            <a:pPr>
              <a:spcAft>
                <a:spcPts val="300"/>
              </a:spcAft>
              <a:defRPr sz="1350">
                <a:solidFill>
                  <a:srgbClr val="232B37"/>
                </a:solidFill>
                <a:latin typeface="Aptos"/>
              </a:defRPr>
            </a:pPr>
            <a:endParaRPr/>
          </a:p>
          <a:p>
            <a:pPr>
              <a:spcAft>
                <a:spcPts val="300"/>
              </a:spcAft>
              <a:defRPr sz="1350">
                <a:solidFill>
                  <a:srgbClr val="232B37"/>
                </a:solidFill>
                <a:latin typeface="Aptos"/>
              </a:defRPr>
            </a:pPr>
            <a:r>
              <a:t>Rank results by keyword occurrence/frequency.</a:t>
            </a:r>
          </a:p>
        </p:txBody>
      </p:sp>
    </p:spTree>
    <p:extLst>
      <p:ext uri="{BB962C8B-B14F-4D97-AF65-F5344CB8AC3E}">
        <p14:creationId xmlns:p14="http://schemas.microsoft.com/office/powerpoint/2010/main" val="1672422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5261953" cy="523220"/>
          </a:xfrm>
          <a:prstGeom prst="rect">
            <a:avLst/>
          </a:prstGeom>
          <a:noFill/>
        </p:spPr>
        <p:txBody>
          <a:bodyPr wrap="none" lIns="91440" tIns="45720" rIns="91440" bIns="45720" anchor="t">
            <a:spAutoFit/>
          </a:bodyPr>
          <a:lstStyle/>
          <a:p>
            <a:r>
              <a:rPr lang="en-US" sz="2800" b="1">
                <a:solidFill>
                  <a:srgbClr val="162640"/>
                </a:solidFill>
                <a:latin typeface="Aptos Display"/>
              </a:rPr>
              <a:t>                                    Literature Survey</a:t>
            </a:r>
          </a:p>
        </p:txBody>
      </p:sp>
      <p:sp>
        <p:nvSpPr>
          <p:cNvPr id="4" name="TextBox 3"/>
          <p:cNvSpPr txBox="1"/>
          <p:nvPr/>
        </p:nvSpPr>
        <p:spPr>
          <a:xfrm>
            <a:off x="11155680" y="6419088"/>
            <a:ext cx="457200" cy="228600"/>
          </a:xfrm>
          <a:prstGeom prst="rect">
            <a:avLst/>
          </a:prstGeom>
          <a:noFill/>
        </p:spPr>
        <p:txBody>
          <a:bodyPr wrap="none">
            <a:spAutoFit/>
          </a:bodyPr>
          <a:lstStyle/>
          <a:p>
            <a:pPr algn="r"/>
            <a:r>
              <a:rPr sz="1000">
                <a:solidFill>
                  <a:srgbClr val="5C6878"/>
                </a:solidFill>
              </a:rPr>
              <a:t>4</a:t>
            </a:r>
          </a:p>
        </p:txBody>
      </p:sp>
      <p:sp>
        <p:nvSpPr>
          <p:cNvPr id="5" name="Rectangle 4"/>
          <p:cNvSpPr/>
          <p:nvPr/>
        </p:nvSpPr>
        <p:spPr>
          <a:xfrm>
            <a:off x="685800" y="1325880"/>
            <a:ext cx="2880360" cy="502920"/>
          </a:xfrm>
          <a:prstGeom prst="rect">
            <a:avLst/>
          </a:prstGeom>
          <a:solidFill>
            <a:srgbClr val="1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Approach</a:t>
            </a:r>
          </a:p>
        </p:txBody>
      </p:sp>
      <p:sp>
        <p:nvSpPr>
          <p:cNvPr id="6" name="Rectangle 5"/>
          <p:cNvSpPr/>
          <p:nvPr/>
        </p:nvSpPr>
        <p:spPr>
          <a:xfrm>
            <a:off x="3657600" y="1325880"/>
            <a:ext cx="3063240" cy="502920"/>
          </a:xfrm>
          <a:prstGeom prst="rect">
            <a:avLst/>
          </a:prstGeom>
          <a:solidFill>
            <a:srgbClr val="1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Strength</a:t>
            </a:r>
          </a:p>
        </p:txBody>
      </p:sp>
      <p:sp>
        <p:nvSpPr>
          <p:cNvPr id="7" name="Rectangle 6"/>
          <p:cNvSpPr/>
          <p:nvPr/>
        </p:nvSpPr>
        <p:spPr>
          <a:xfrm>
            <a:off x="6812280" y="1325880"/>
            <a:ext cx="4526280" cy="502920"/>
          </a:xfrm>
          <a:prstGeom prst="rect">
            <a:avLst/>
          </a:prstGeom>
          <a:solidFill>
            <a:srgbClr val="1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Limitation</a:t>
            </a:r>
          </a:p>
        </p:txBody>
      </p:sp>
      <p:sp>
        <p:nvSpPr>
          <p:cNvPr id="8" name="Rectangle 7"/>
          <p:cNvSpPr/>
          <p:nvPr/>
        </p:nvSpPr>
        <p:spPr>
          <a:xfrm>
            <a:off x="685800" y="1828800"/>
            <a:ext cx="2880360" cy="777240"/>
          </a:xfrm>
          <a:prstGeom prst="rect">
            <a:avLst/>
          </a:prstGeom>
          <a:solidFill>
            <a:srgbClr val="F2F6FB"/>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a:solidFill>
                  <a:srgbClr val="232B37"/>
                </a:solidFill>
              </a:defRPr>
            </a:pPr>
            <a:r>
              <a:t>Sequential search</a:t>
            </a:r>
          </a:p>
        </p:txBody>
      </p:sp>
      <p:sp>
        <p:nvSpPr>
          <p:cNvPr id="9" name="Rectangle 8"/>
          <p:cNvSpPr/>
          <p:nvPr/>
        </p:nvSpPr>
        <p:spPr>
          <a:xfrm>
            <a:off x="3657600" y="1828800"/>
            <a:ext cx="3063240" cy="777240"/>
          </a:xfrm>
          <a:prstGeom prst="rect">
            <a:avLst/>
          </a:prstGeom>
          <a:solidFill>
            <a:srgbClr val="F2F6FB"/>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a:solidFill>
                  <a:srgbClr val="232B37"/>
                </a:solidFill>
              </a:defRPr>
            </a:pPr>
            <a:r>
              <a:t>Simple to implement</a:t>
            </a:r>
          </a:p>
        </p:txBody>
      </p:sp>
      <p:sp>
        <p:nvSpPr>
          <p:cNvPr id="10" name="Rectangle 9"/>
          <p:cNvSpPr/>
          <p:nvPr/>
        </p:nvSpPr>
        <p:spPr>
          <a:xfrm>
            <a:off x="6812280" y="1828800"/>
            <a:ext cx="4526280" cy="777240"/>
          </a:xfrm>
          <a:prstGeom prst="rect">
            <a:avLst/>
          </a:prstGeom>
          <a:solidFill>
            <a:srgbClr val="F2F6FB"/>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a:solidFill>
                  <a:srgbClr val="232B37"/>
                </a:solidFill>
              </a:defRPr>
            </a:pPr>
            <a:r>
              <a:t>Scans many documents for each query</a:t>
            </a:r>
          </a:p>
        </p:txBody>
      </p:sp>
      <p:sp>
        <p:nvSpPr>
          <p:cNvPr id="11" name="Rectangle 10"/>
          <p:cNvSpPr/>
          <p:nvPr/>
        </p:nvSpPr>
        <p:spPr>
          <a:xfrm>
            <a:off x="685800" y="2606040"/>
            <a:ext cx="2880360" cy="777240"/>
          </a:xfrm>
          <a:prstGeom prst="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a:solidFill>
                  <a:srgbClr val="232B37"/>
                </a:solidFill>
              </a:defRPr>
            </a:pPr>
            <a:r>
              <a:t>Hash-based lookup</a:t>
            </a:r>
          </a:p>
        </p:txBody>
      </p:sp>
      <p:sp>
        <p:nvSpPr>
          <p:cNvPr id="12" name="Rectangle 11"/>
          <p:cNvSpPr/>
          <p:nvPr/>
        </p:nvSpPr>
        <p:spPr>
          <a:xfrm>
            <a:off x="3657600" y="2606040"/>
            <a:ext cx="3063240" cy="777240"/>
          </a:xfrm>
          <a:prstGeom prst="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a:solidFill>
                  <a:srgbClr val="232B37"/>
                </a:solidFill>
              </a:defRPr>
            </a:pPr>
            <a:r>
              <a:t>Fast average-case key lookup</a:t>
            </a:r>
          </a:p>
        </p:txBody>
      </p:sp>
      <p:sp>
        <p:nvSpPr>
          <p:cNvPr id="13" name="Rectangle 12"/>
          <p:cNvSpPr/>
          <p:nvPr/>
        </p:nvSpPr>
        <p:spPr>
          <a:xfrm>
            <a:off x="6812280" y="2606040"/>
            <a:ext cx="4526280" cy="777240"/>
          </a:xfrm>
          <a:prstGeom prst="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a:solidFill>
                  <a:srgbClr val="232B37"/>
                </a:solidFill>
              </a:defRPr>
            </a:pPr>
            <a:r>
              <a:t>Needs an appropriate mapping structure</a:t>
            </a:r>
          </a:p>
        </p:txBody>
      </p:sp>
      <p:sp>
        <p:nvSpPr>
          <p:cNvPr id="14" name="Rectangle 13"/>
          <p:cNvSpPr/>
          <p:nvPr/>
        </p:nvSpPr>
        <p:spPr>
          <a:xfrm>
            <a:off x="685800" y="3383280"/>
            <a:ext cx="2880360" cy="777240"/>
          </a:xfrm>
          <a:prstGeom prst="rect">
            <a:avLst/>
          </a:prstGeom>
          <a:solidFill>
            <a:srgbClr val="F2F6FB"/>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a:solidFill>
                  <a:srgbClr val="232B37"/>
                </a:solidFill>
              </a:defRPr>
            </a:pPr>
            <a:r>
              <a:t>Inverted index</a:t>
            </a:r>
          </a:p>
        </p:txBody>
      </p:sp>
      <p:sp>
        <p:nvSpPr>
          <p:cNvPr id="15" name="Rectangle 14"/>
          <p:cNvSpPr/>
          <p:nvPr/>
        </p:nvSpPr>
        <p:spPr>
          <a:xfrm>
            <a:off x="3657600" y="3383280"/>
            <a:ext cx="3063240" cy="777240"/>
          </a:xfrm>
          <a:prstGeom prst="rect">
            <a:avLst/>
          </a:prstGeom>
          <a:solidFill>
            <a:srgbClr val="F2F6FB"/>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a:solidFill>
                  <a:srgbClr val="232B37"/>
                </a:solidFill>
              </a:defRPr>
            </a:pPr>
            <a:r>
              <a:t>Direct keyword → document retrieval</a:t>
            </a:r>
          </a:p>
        </p:txBody>
      </p:sp>
      <p:sp>
        <p:nvSpPr>
          <p:cNvPr id="16" name="Rectangle 15"/>
          <p:cNvSpPr/>
          <p:nvPr/>
        </p:nvSpPr>
        <p:spPr>
          <a:xfrm>
            <a:off x="6812280" y="3383280"/>
            <a:ext cx="4526280" cy="777240"/>
          </a:xfrm>
          <a:prstGeom prst="rect">
            <a:avLst/>
          </a:prstGeom>
          <a:solidFill>
            <a:srgbClr val="F2F6FB"/>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a:solidFill>
                  <a:srgbClr val="232B37"/>
                </a:solidFill>
              </a:defRPr>
            </a:pPr>
            <a:r>
              <a:t>Requires index construction and storage</a:t>
            </a:r>
          </a:p>
        </p:txBody>
      </p:sp>
      <p:sp>
        <p:nvSpPr>
          <p:cNvPr id="17" name="Rectangle 16"/>
          <p:cNvSpPr/>
          <p:nvPr/>
        </p:nvSpPr>
        <p:spPr>
          <a:xfrm>
            <a:off x="685800" y="4160520"/>
            <a:ext cx="2880360" cy="777240"/>
          </a:xfrm>
          <a:prstGeom prst="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a:solidFill>
                  <a:srgbClr val="232B37"/>
                </a:solidFill>
              </a:defRPr>
            </a:pPr>
            <a:r>
              <a:t>Frequency-based ranking</a:t>
            </a:r>
          </a:p>
        </p:txBody>
      </p:sp>
      <p:sp>
        <p:nvSpPr>
          <p:cNvPr id="18" name="Rectangle 17"/>
          <p:cNvSpPr/>
          <p:nvPr/>
        </p:nvSpPr>
        <p:spPr>
          <a:xfrm>
            <a:off x="3657600" y="4160520"/>
            <a:ext cx="3063240" cy="777240"/>
          </a:xfrm>
          <a:prstGeom prst="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a:solidFill>
                  <a:srgbClr val="232B37"/>
                </a:solidFill>
              </a:defRPr>
            </a:pPr>
            <a:r>
              <a:t>Simple relevance signal</a:t>
            </a:r>
          </a:p>
        </p:txBody>
      </p:sp>
      <p:sp>
        <p:nvSpPr>
          <p:cNvPr id="19" name="Rectangle 18"/>
          <p:cNvSpPr/>
          <p:nvPr/>
        </p:nvSpPr>
        <p:spPr>
          <a:xfrm>
            <a:off x="6812280" y="4160520"/>
            <a:ext cx="4526280" cy="777240"/>
          </a:xfrm>
          <a:prstGeom prst="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a:solidFill>
                  <a:srgbClr val="232B37"/>
                </a:solidFill>
              </a:defRPr>
            </a:pPr>
            <a:r>
              <a:t>May not capture semantic relevance</a:t>
            </a:r>
          </a:p>
        </p:txBody>
      </p:sp>
      <p:sp>
        <p:nvSpPr>
          <p:cNvPr id="20" name="TextBox 19"/>
          <p:cNvSpPr txBox="1"/>
          <p:nvPr/>
        </p:nvSpPr>
        <p:spPr>
          <a:xfrm>
            <a:off x="777240" y="5166360"/>
            <a:ext cx="10607040" cy="640080"/>
          </a:xfrm>
          <a:prstGeom prst="rect">
            <a:avLst/>
          </a:prstGeom>
          <a:noFill/>
        </p:spPr>
        <p:txBody>
          <a:bodyPr wrap="square" lIns="45720" tIns="27432" rIns="45720" bIns="27432">
            <a:spAutoFit/>
          </a:bodyPr>
          <a:lstStyle/>
          <a:p>
            <a:pPr>
              <a:spcAft>
                <a:spcPts val="700"/>
              </a:spcAft>
              <a:defRPr sz="1700">
                <a:solidFill>
                  <a:srgbClr val="2B5BA0"/>
                </a:solidFill>
                <a:latin typeface="Aptos"/>
              </a:defRPr>
            </a:pPr>
            <a:r>
              <a:t>Proposed combination: Unicode preprocessing + inverted indexing + efficient lookup + frequency-based ranking.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7907934" cy="523220"/>
          </a:xfrm>
          <a:prstGeom prst="rect">
            <a:avLst/>
          </a:prstGeom>
          <a:noFill/>
        </p:spPr>
        <p:txBody>
          <a:bodyPr wrap="none" lIns="91440" tIns="45720" rIns="91440" bIns="45720" anchor="t">
            <a:spAutoFit/>
          </a:bodyPr>
          <a:lstStyle/>
          <a:p>
            <a:r>
              <a:rPr lang="en-US" sz="2800" b="1">
                <a:solidFill>
                  <a:srgbClr val="162640"/>
                </a:solidFill>
                <a:latin typeface="Aptos Display"/>
              </a:rPr>
              <a:t>                                    </a:t>
            </a:r>
            <a:r>
              <a:rPr sz="2800" b="1">
                <a:solidFill>
                  <a:srgbClr val="162640"/>
                </a:solidFill>
                <a:latin typeface="Aptos Display"/>
              </a:rPr>
              <a:t>Problem Statement and Objectives</a:t>
            </a:r>
          </a:p>
        </p:txBody>
      </p:sp>
      <p:sp>
        <p:nvSpPr>
          <p:cNvPr id="4" name="TextBox 3"/>
          <p:cNvSpPr txBox="1"/>
          <p:nvPr/>
        </p:nvSpPr>
        <p:spPr>
          <a:xfrm>
            <a:off x="11155680" y="6419088"/>
            <a:ext cx="457200" cy="228600"/>
          </a:xfrm>
          <a:prstGeom prst="rect">
            <a:avLst/>
          </a:prstGeom>
          <a:noFill/>
        </p:spPr>
        <p:txBody>
          <a:bodyPr wrap="none">
            <a:spAutoFit/>
          </a:bodyPr>
          <a:lstStyle/>
          <a:p>
            <a:pPr algn="r"/>
            <a:r>
              <a:rPr sz="1000">
                <a:solidFill>
                  <a:srgbClr val="5C6878"/>
                </a:solidFill>
              </a:rPr>
              <a:t>5</a:t>
            </a:r>
          </a:p>
        </p:txBody>
      </p:sp>
      <p:sp>
        <p:nvSpPr>
          <p:cNvPr id="5" name="Rounded Rectangle 4"/>
          <p:cNvSpPr/>
          <p:nvPr/>
        </p:nvSpPr>
        <p:spPr>
          <a:xfrm>
            <a:off x="731520" y="1280160"/>
            <a:ext cx="5303520" cy="1828800"/>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Problem Statement</a:t>
            </a:r>
          </a:p>
          <a:p>
            <a:pPr>
              <a:spcAft>
                <a:spcPts val="300"/>
              </a:spcAft>
              <a:defRPr sz="1350">
                <a:solidFill>
                  <a:srgbClr val="232B37"/>
                </a:solidFill>
                <a:latin typeface="Aptos"/>
              </a:defRPr>
            </a:pPr>
            <a:r>
              <a:t>Develop an efficient text analytics engine capable of fast keyword-based search over a large Indian-language Wikipedia corpus using suitable data structures and indexing techniques.</a:t>
            </a:r>
          </a:p>
        </p:txBody>
      </p:sp>
      <p:sp>
        <p:nvSpPr>
          <p:cNvPr id="6" name="Rounded Rectangle 5"/>
          <p:cNvSpPr/>
          <p:nvPr/>
        </p:nvSpPr>
        <p:spPr>
          <a:xfrm>
            <a:off x="731520" y="3337560"/>
            <a:ext cx="5303520" cy="2057400"/>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Objectives</a:t>
            </a:r>
          </a:p>
          <a:p>
            <a:pPr>
              <a:spcAft>
                <a:spcPts val="300"/>
              </a:spcAft>
              <a:defRPr sz="1350">
                <a:solidFill>
                  <a:srgbClr val="232B37"/>
                </a:solidFill>
                <a:latin typeface="Aptos"/>
              </a:defRPr>
            </a:pPr>
            <a:r>
              <a:t>• Handle large text datasets efficiently.</a:t>
            </a:r>
          </a:p>
          <a:p>
            <a:pPr>
              <a:spcAft>
                <a:spcPts val="300"/>
              </a:spcAft>
              <a:defRPr sz="1350">
                <a:solidFill>
                  <a:srgbClr val="232B37"/>
                </a:solidFill>
                <a:latin typeface="Aptos"/>
              </a:defRPr>
            </a:pPr>
            <a:r>
              <a:t>• Support Indian-language Unicode text.</a:t>
            </a:r>
          </a:p>
          <a:p>
            <a:pPr>
              <a:spcAft>
                <a:spcPts val="300"/>
              </a:spcAft>
              <a:defRPr sz="1350">
                <a:solidFill>
                  <a:srgbClr val="232B37"/>
                </a:solidFill>
                <a:latin typeface="Aptos"/>
              </a:defRPr>
            </a:pPr>
            <a:r>
              <a:t>• Build an inverted index.</a:t>
            </a:r>
          </a:p>
          <a:p>
            <a:pPr>
              <a:spcAft>
                <a:spcPts val="300"/>
              </a:spcAft>
              <a:defRPr sz="1350">
                <a:solidFill>
                  <a:srgbClr val="232B37"/>
                </a:solidFill>
                <a:latin typeface="Aptos"/>
              </a:defRPr>
            </a:pPr>
            <a:r>
              <a:t>• Support single and multiple keyword queries.</a:t>
            </a:r>
          </a:p>
          <a:p>
            <a:pPr>
              <a:spcAft>
                <a:spcPts val="300"/>
              </a:spcAft>
              <a:defRPr sz="1350">
                <a:solidFill>
                  <a:srgbClr val="232B37"/>
                </a:solidFill>
                <a:latin typeface="Aptos"/>
              </a:defRPr>
            </a:pPr>
            <a:r>
              <a:t>• Rank results using occurrence/frequency.</a:t>
            </a:r>
          </a:p>
        </p:txBody>
      </p:sp>
      <p:sp>
        <p:nvSpPr>
          <p:cNvPr id="7" name="Rounded Rectangle 6"/>
          <p:cNvSpPr/>
          <p:nvPr/>
        </p:nvSpPr>
        <p:spPr>
          <a:xfrm>
            <a:off x="6355080" y="1280160"/>
            <a:ext cx="5074920" cy="4114800"/>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DSA Focus</a:t>
            </a:r>
          </a:p>
          <a:p>
            <a:pPr>
              <a:spcAft>
                <a:spcPts val="300"/>
              </a:spcAft>
              <a:defRPr sz="1350">
                <a:solidFill>
                  <a:srgbClr val="232B37"/>
                </a:solidFill>
                <a:latin typeface="Aptos"/>
              </a:defRPr>
            </a:pPr>
            <a:r>
              <a:t>Data Structures</a:t>
            </a:r>
          </a:p>
          <a:p>
            <a:pPr>
              <a:spcAft>
                <a:spcPts val="300"/>
              </a:spcAft>
              <a:defRPr sz="1350">
                <a:solidFill>
                  <a:srgbClr val="232B37"/>
                </a:solidFill>
                <a:latin typeface="Aptos"/>
              </a:defRPr>
            </a:pPr>
            <a:r>
              <a:t>• Hash table / dictionary</a:t>
            </a:r>
          </a:p>
          <a:p>
            <a:pPr>
              <a:spcAft>
                <a:spcPts val="300"/>
              </a:spcAft>
              <a:defRPr sz="1350">
                <a:solidFill>
                  <a:srgbClr val="232B37"/>
                </a:solidFill>
                <a:latin typeface="Aptos"/>
              </a:defRPr>
            </a:pPr>
            <a:r>
              <a:t>• Lists and sets</a:t>
            </a:r>
          </a:p>
          <a:p>
            <a:pPr>
              <a:spcAft>
                <a:spcPts val="300"/>
              </a:spcAft>
              <a:defRPr sz="1350">
                <a:solidFill>
                  <a:srgbClr val="232B37"/>
                </a:solidFill>
                <a:latin typeface="Aptos"/>
              </a:defRPr>
            </a:pPr>
            <a:r>
              <a:t>• Inverted index</a:t>
            </a:r>
          </a:p>
          <a:p>
            <a:pPr>
              <a:spcAft>
                <a:spcPts val="300"/>
              </a:spcAft>
              <a:defRPr sz="1350">
                <a:solidFill>
                  <a:srgbClr val="232B37"/>
                </a:solidFill>
                <a:latin typeface="Aptos"/>
              </a:defRPr>
            </a:pPr>
            <a:endParaRPr/>
          </a:p>
          <a:p>
            <a:pPr>
              <a:spcAft>
                <a:spcPts val="300"/>
              </a:spcAft>
              <a:defRPr sz="1350">
                <a:solidFill>
                  <a:srgbClr val="232B37"/>
                </a:solidFill>
                <a:latin typeface="Aptos"/>
              </a:defRPr>
            </a:pPr>
            <a:r>
              <a:t>Algorithms</a:t>
            </a:r>
          </a:p>
          <a:p>
            <a:pPr>
              <a:spcAft>
                <a:spcPts val="300"/>
              </a:spcAft>
              <a:defRPr sz="1350">
                <a:solidFill>
                  <a:srgbClr val="232B37"/>
                </a:solidFill>
                <a:latin typeface="Aptos"/>
              </a:defRPr>
            </a:pPr>
            <a:r>
              <a:t>• Text preprocessing</a:t>
            </a:r>
          </a:p>
          <a:p>
            <a:pPr>
              <a:spcAft>
                <a:spcPts val="300"/>
              </a:spcAft>
              <a:defRPr sz="1350">
                <a:solidFill>
                  <a:srgbClr val="232B37"/>
                </a:solidFill>
                <a:latin typeface="Aptos"/>
              </a:defRPr>
            </a:pPr>
            <a:r>
              <a:t>• Index construction</a:t>
            </a:r>
          </a:p>
          <a:p>
            <a:pPr>
              <a:spcAft>
                <a:spcPts val="300"/>
              </a:spcAft>
              <a:defRPr sz="1350">
                <a:solidFill>
                  <a:srgbClr val="232B37"/>
                </a:solidFill>
                <a:latin typeface="Aptos"/>
              </a:defRPr>
            </a:pPr>
            <a:r>
              <a:t>• Keyword lookup</a:t>
            </a:r>
          </a:p>
          <a:p>
            <a:pPr>
              <a:spcAft>
                <a:spcPts val="300"/>
              </a:spcAft>
              <a:defRPr sz="1350">
                <a:solidFill>
                  <a:srgbClr val="232B37"/>
                </a:solidFill>
                <a:latin typeface="Aptos"/>
              </a:defRPr>
            </a:pPr>
            <a:r>
              <a:t>• Set intersection for multi-keyword queries</a:t>
            </a:r>
          </a:p>
          <a:p>
            <a:pPr>
              <a:spcAft>
                <a:spcPts val="300"/>
              </a:spcAft>
              <a:defRPr sz="1350">
                <a:solidFill>
                  <a:srgbClr val="232B37"/>
                </a:solidFill>
                <a:latin typeface="Aptos"/>
              </a:defRPr>
            </a:pPr>
            <a:r>
              <a:t>• Frequency-based ranking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8333820" cy="523220"/>
          </a:xfrm>
          <a:prstGeom prst="rect">
            <a:avLst/>
          </a:prstGeom>
          <a:noFill/>
        </p:spPr>
        <p:txBody>
          <a:bodyPr wrap="none" lIns="91440" tIns="45720" rIns="91440" bIns="45720" anchor="t">
            <a:spAutoFit/>
          </a:bodyPr>
          <a:lstStyle/>
          <a:p>
            <a:r>
              <a:rPr lang="en-US" sz="2800" b="1">
                <a:solidFill>
                  <a:srgbClr val="162640"/>
                </a:solidFill>
                <a:latin typeface="Aptos Display"/>
              </a:rPr>
              <a:t>                                   </a:t>
            </a:r>
            <a:r>
              <a:rPr sz="2800" b="1">
                <a:solidFill>
                  <a:srgbClr val="162640"/>
                </a:solidFill>
                <a:latin typeface="Aptos Display"/>
              </a:rPr>
              <a:t>Hardware and Software Requirements</a:t>
            </a:r>
          </a:p>
        </p:txBody>
      </p:sp>
      <p:sp>
        <p:nvSpPr>
          <p:cNvPr id="4" name="TextBox 3"/>
          <p:cNvSpPr txBox="1"/>
          <p:nvPr/>
        </p:nvSpPr>
        <p:spPr>
          <a:xfrm>
            <a:off x="11155680" y="6419088"/>
            <a:ext cx="457200" cy="228600"/>
          </a:xfrm>
          <a:prstGeom prst="rect">
            <a:avLst/>
          </a:prstGeom>
          <a:noFill/>
        </p:spPr>
        <p:txBody>
          <a:bodyPr wrap="none">
            <a:spAutoFit/>
          </a:bodyPr>
          <a:lstStyle/>
          <a:p>
            <a:pPr algn="r"/>
            <a:r>
              <a:rPr sz="1000">
                <a:solidFill>
                  <a:srgbClr val="5C6878"/>
                </a:solidFill>
              </a:rPr>
              <a:t>8</a:t>
            </a:r>
          </a:p>
        </p:txBody>
      </p:sp>
      <p:sp>
        <p:nvSpPr>
          <p:cNvPr id="5" name="Rounded Rectangle 4"/>
          <p:cNvSpPr/>
          <p:nvPr/>
        </p:nvSpPr>
        <p:spPr>
          <a:xfrm>
            <a:off x="731520" y="1325880"/>
            <a:ext cx="5212080" cy="4206240"/>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Hardware Requirements</a:t>
            </a:r>
          </a:p>
          <a:p>
            <a:pPr>
              <a:spcAft>
                <a:spcPts val="300"/>
              </a:spcAft>
              <a:defRPr sz="1350">
                <a:solidFill>
                  <a:srgbClr val="232B37"/>
                </a:solidFill>
                <a:latin typeface="Aptos"/>
              </a:defRPr>
            </a:pPr>
            <a:r>
              <a:t>• Laptop/Desktop computer</a:t>
            </a:r>
          </a:p>
          <a:p>
            <a:pPr>
              <a:spcAft>
                <a:spcPts val="300"/>
              </a:spcAft>
              <a:defRPr sz="1350">
                <a:solidFill>
                  <a:srgbClr val="232B37"/>
                </a:solidFill>
                <a:latin typeface="Aptos"/>
              </a:defRPr>
            </a:pPr>
            <a:r>
              <a:t>• Recommended RAM: 8 GB or more for larger corpora</a:t>
            </a:r>
          </a:p>
          <a:p>
            <a:pPr>
              <a:spcAft>
                <a:spcPts val="300"/>
              </a:spcAft>
              <a:defRPr sz="1350">
                <a:solidFill>
                  <a:srgbClr val="232B37"/>
                </a:solidFill>
                <a:latin typeface="Aptos"/>
              </a:defRPr>
            </a:pPr>
            <a:r>
              <a:t>• Multi-core processor</a:t>
            </a:r>
          </a:p>
          <a:p>
            <a:pPr>
              <a:spcAft>
                <a:spcPts val="300"/>
              </a:spcAft>
              <a:defRPr sz="1350">
                <a:solidFill>
                  <a:srgbClr val="232B37"/>
                </a:solidFill>
                <a:latin typeface="Aptos"/>
              </a:defRPr>
            </a:pPr>
            <a:r>
              <a:t>• Sufficient storage for corpus and index</a:t>
            </a:r>
          </a:p>
          <a:p>
            <a:pPr>
              <a:spcAft>
                <a:spcPts val="300"/>
              </a:spcAft>
              <a:defRPr sz="1350">
                <a:solidFill>
                  <a:srgbClr val="232B37"/>
                </a:solidFill>
                <a:latin typeface="Aptos"/>
              </a:defRPr>
            </a:pPr>
            <a:endParaRPr/>
          </a:p>
          <a:p>
            <a:pPr>
              <a:spcAft>
                <a:spcPts val="300"/>
              </a:spcAft>
              <a:defRPr sz="1350">
                <a:solidFill>
                  <a:srgbClr val="232B37"/>
                </a:solidFill>
                <a:latin typeface="Aptos"/>
              </a:defRPr>
            </a:pPr>
            <a:r>
              <a:t>The exact requirement depends on corpus size and index size.</a:t>
            </a:r>
          </a:p>
        </p:txBody>
      </p:sp>
      <p:sp>
        <p:nvSpPr>
          <p:cNvPr id="6" name="Rounded Rectangle 5"/>
          <p:cNvSpPr/>
          <p:nvPr/>
        </p:nvSpPr>
        <p:spPr>
          <a:xfrm>
            <a:off x="6263640" y="1325880"/>
            <a:ext cx="5166360" cy="4206240"/>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Software Requirements</a:t>
            </a:r>
          </a:p>
          <a:p>
            <a:pPr>
              <a:spcAft>
                <a:spcPts val="300"/>
              </a:spcAft>
              <a:defRPr sz="1350">
                <a:solidFill>
                  <a:srgbClr val="232B37"/>
                </a:solidFill>
                <a:latin typeface="Aptos"/>
              </a:defRPr>
            </a:pPr>
            <a:r>
              <a:t>• Windows / Linux</a:t>
            </a:r>
          </a:p>
          <a:p>
            <a:pPr>
              <a:spcAft>
                <a:spcPts val="300"/>
              </a:spcAft>
              <a:defRPr sz="1350">
                <a:solidFill>
                  <a:srgbClr val="232B37"/>
                </a:solidFill>
                <a:latin typeface="Aptos"/>
              </a:defRPr>
            </a:pPr>
            <a:r>
              <a:t>• Python 3.x</a:t>
            </a:r>
          </a:p>
          <a:p>
            <a:pPr>
              <a:spcAft>
                <a:spcPts val="300"/>
              </a:spcAft>
              <a:defRPr sz="1350">
                <a:solidFill>
                  <a:srgbClr val="232B37"/>
                </a:solidFill>
                <a:latin typeface="Aptos"/>
              </a:defRPr>
            </a:pPr>
            <a:r>
              <a:t>• VS Code / PyCharm / Jupyter Notebook</a:t>
            </a:r>
          </a:p>
          <a:p>
            <a:pPr>
              <a:spcAft>
                <a:spcPts val="300"/>
              </a:spcAft>
              <a:defRPr sz="1350">
                <a:solidFill>
                  <a:srgbClr val="232B37"/>
                </a:solidFill>
                <a:latin typeface="Aptos"/>
              </a:defRPr>
            </a:pPr>
            <a:r>
              <a:t>• re — text processing</a:t>
            </a:r>
          </a:p>
          <a:p>
            <a:pPr>
              <a:spcAft>
                <a:spcPts val="300"/>
              </a:spcAft>
              <a:defRPr sz="1350">
                <a:solidFill>
                  <a:srgbClr val="232B37"/>
                </a:solidFill>
                <a:latin typeface="Aptos"/>
              </a:defRPr>
            </a:pPr>
            <a:r>
              <a:t>• collections — efficient data structures</a:t>
            </a:r>
          </a:p>
          <a:p>
            <a:pPr>
              <a:spcAft>
                <a:spcPts val="300"/>
              </a:spcAft>
              <a:defRPr sz="1350">
                <a:solidFill>
                  <a:srgbClr val="232B37"/>
                </a:solidFill>
                <a:latin typeface="Aptos"/>
              </a:defRPr>
            </a:pPr>
            <a:r>
              <a:t>• NumPy / Pandas — optional dataset processing</a:t>
            </a:r>
          </a:p>
          <a:p>
            <a:pPr>
              <a:spcAft>
                <a:spcPts val="300"/>
              </a:spcAft>
              <a:defRPr sz="1350">
                <a:solidFill>
                  <a:srgbClr val="232B37"/>
                </a:solidFill>
                <a:latin typeface="Aptos"/>
              </a:defRPr>
            </a:pPr>
            <a:endParaRPr/>
          </a:p>
          <a:p>
            <a:pPr>
              <a:spcAft>
                <a:spcPts val="300"/>
              </a:spcAft>
              <a:defRPr sz="1350">
                <a:solidFill>
                  <a:srgbClr val="232B37"/>
                </a:solidFill>
                <a:latin typeface="Aptos"/>
              </a:defRPr>
            </a:pPr>
            <a:r>
              <a:t>Core stack:</a:t>
            </a:r>
          </a:p>
          <a:p>
            <a:pPr>
              <a:spcAft>
                <a:spcPts val="300"/>
              </a:spcAft>
              <a:defRPr sz="1350">
                <a:solidFill>
                  <a:srgbClr val="232B37"/>
                </a:solidFill>
                <a:latin typeface="Aptos"/>
              </a:defRPr>
            </a:pPr>
            <a:r>
              <a:t>Python + Unicode + Inverted Index + Dictionary/Hash Table + Ranking</a:t>
            </a:r>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6197209" cy="523220"/>
          </a:xfrm>
          <a:prstGeom prst="rect">
            <a:avLst/>
          </a:prstGeom>
          <a:noFill/>
        </p:spPr>
        <p:txBody>
          <a:bodyPr wrap="none" lIns="91440" tIns="45720" rIns="91440" bIns="45720" anchor="t">
            <a:spAutoFit/>
          </a:bodyPr>
          <a:lstStyle/>
          <a:p>
            <a:r>
              <a:rPr lang="en-US" sz="2800" b="1">
                <a:solidFill>
                  <a:srgbClr val="162640"/>
                </a:solidFill>
                <a:latin typeface="Aptos Display"/>
              </a:rPr>
              <a:t>                                                               </a:t>
            </a:r>
            <a:r>
              <a:rPr sz="2800" b="1">
                <a:solidFill>
                  <a:srgbClr val="162640"/>
                </a:solidFill>
                <a:latin typeface="Aptos Display"/>
              </a:rPr>
              <a:t>Flow Chart</a:t>
            </a:r>
          </a:p>
        </p:txBody>
      </p:sp>
      <p:sp>
        <p:nvSpPr>
          <p:cNvPr id="4" name="TextBox 3"/>
          <p:cNvSpPr txBox="1"/>
          <p:nvPr/>
        </p:nvSpPr>
        <p:spPr>
          <a:xfrm>
            <a:off x="11155680" y="6419088"/>
            <a:ext cx="457200" cy="228600"/>
          </a:xfrm>
          <a:prstGeom prst="rect">
            <a:avLst/>
          </a:prstGeom>
          <a:noFill/>
        </p:spPr>
        <p:txBody>
          <a:bodyPr wrap="none">
            <a:spAutoFit/>
          </a:bodyPr>
          <a:lstStyle/>
          <a:p>
            <a:pPr algn="r"/>
            <a:r>
              <a:rPr sz="1000">
                <a:solidFill>
                  <a:srgbClr val="5C6878"/>
                </a:solidFill>
              </a:rPr>
              <a:t>6</a:t>
            </a:r>
          </a:p>
        </p:txBody>
      </p:sp>
      <p:sp>
        <p:nvSpPr>
          <p:cNvPr id="5" name="Rounded Rectangle 4"/>
          <p:cNvSpPr/>
          <p:nvPr/>
        </p:nvSpPr>
        <p:spPr>
          <a:xfrm>
            <a:off x="3886200" y="1417320"/>
            <a:ext cx="4389120" cy="502920"/>
          </a:xfrm>
          <a:prstGeom prst="roundRect">
            <a:avLst/>
          </a:prstGeom>
          <a:solidFill>
            <a:srgbClr val="F2F6FB"/>
          </a:solidFill>
          <a:ln>
            <a:solidFill>
              <a:srgbClr val="2B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2B37"/>
                </a:solidFill>
              </a:defRPr>
            </a:pPr>
            <a:r>
              <a:t>Load Wikipedia</a:t>
            </a:r>
            <a:br/>
            <a:r>
              <a:t>Corpus</a:t>
            </a:r>
          </a:p>
        </p:txBody>
      </p:sp>
      <p:sp>
        <p:nvSpPr>
          <p:cNvPr id="6" name="Down Arrow 5"/>
          <p:cNvSpPr/>
          <p:nvPr/>
        </p:nvSpPr>
        <p:spPr>
          <a:xfrm>
            <a:off x="5806440" y="1929384"/>
            <a:ext cx="502920" cy="256032"/>
          </a:xfrm>
          <a:prstGeom prst="downArrow">
            <a:avLst/>
          </a:prstGeom>
          <a:solidFill>
            <a:srgbClr val="377D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886200" y="2103120"/>
            <a:ext cx="4389120" cy="502920"/>
          </a:xfrm>
          <a:prstGeom prst="roundRect">
            <a:avLst/>
          </a:prstGeom>
          <a:solidFill>
            <a:srgbClr val="F2F6FB"/>
          </a:solidFill>
          <a:ln>
            <a:solidFill>
              <a:srgbClr val="2B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2B37"/>
                </a:solidFill>
              </a:defRPr>
            </a:pPr>
            <a:r>
              <a:t>Preprocess Text</a:t>
            </a:r>
            <a:br/>
            <a:r>
              <a:t>Unicode + Cleaning + Tokenization</a:t>
            </a:r>
          </a:p>
        </p:txBody>
      </p:sp>
      <p:sp>
        <p:nvSpPr>
          <p:cNvPr id="8" name="Down Arrow 7"/>
          <p:cNvSpPr/>
          <p:nvPr/>
        </p:nvSpPr>
        <p:spPr>
          <a:xfrm>
            <a:off x="5806440" y="2615184"/>
            <a:ext cx="502920" cy="256032"/>
          </a:xfrm>
          <a:prstGeom prst="downArrow">
            <a:avLst/>
          </a:prstGeom>
          <a:solidFill>
            <a:srgbClr val="377D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886200" y="2788920"/>
            <a:ext cx="4389120" cy="502920"/>
          </a:xfrm>
          <a:prstGeom prst="roundRect">
            <a:avLst/>
          </a:prstGeom>
          <a:solidFill>
            <a:srgbClr val="F2F6FB"/>
          </a:solidFill>
          <a:ln>
            <a:solidFill>
              <a:srgbClr val="2B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2B37"/>
                </a:solidFill>
              </a:defRPr>
            </a:pPr>
            <a:r>
              <a:t>Build</a:t>
            </a:r>
            <a:br/>
            <a:r>
              <a:t>Inverted Index</a:t>
            </a:r>
          </a:p>
        </p:txBody>
      </p:sp>
      <p:sp>
        <p:nvSpPr>
          <p:cNvPr id="10" name="Down Arrow 9"/>
          <p:cNvSpPr/>
          <p:nvPr/>
        </p:nvSpPr>
        <p:spPr>
          <a:xfrm>
            <a:off x="5806440" y="3300984"/>
            <a:ext cx="502920" cy="256032"/>
          </a:xfrm>
          <a:prstGeom prst="downArrow">
            <a:avLst/>
          </a:prstGeom>
          <a:solidFill>
            <a:srgbClr val="377D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886200" y="3474720"/>
            <a:ext cx="4389120" cy="502920"/>
          </a:xfrm>
          <a:prstGeom prst="roundRect">
            <a:avLst/>
          </a:prstGeom>
          <a:solidFill>
            <a:srgbClr val="F2F6FB"/>
          </a:solidFill>
          <a:ln>
            <a:solidFill>
              <a:srgbClr val="2B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2B37"/>
                </a:solidFill>
              </a:defRPr>
            </a:pPr>
            <a:r>
              <a:t>User</a:t>
            </a:r>
            <a:br/>
            <a:r>
              <a:t>Query</a:t>
            </a:r>
          </a:p>
        </p:txBody>
      </p:sp>
      <p:sp>
        <p:nvSpPr>
          <p:cNvPr id="12" name="Down Arrow 11"/>
          <p:cNvSpPr/>
          <p:nvPr/>
        </p:nvSpPr>
        <p:spPr>
          <a:xfrm>
            <a:off x="5806440" y="3986783"/>
            <a:ext cx="502920" cy="256032"/>
          </a:xfrm>
          <a:prstGeom prst="downArrow">
            <a:avLst/>
          </a:prstGeom>
          <a:solidFill>
            <a:srgbClr val="377D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886200" y="4160520"/>
            <a:ext cx="4389120" cy="502920"/>
          </a:xfrm>
          <a:prstGeom prst="roundRect">
            <a:avLst/>
          </a:prstGeom>
          <a:solidFill>
            <a:srgbClr val="F2F6FB"/>
          </a:solidFill>
          <a:ln>
            <a:solidFill>
              <a:srgbClr val="2B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2B37"/>
                </a:solidFill>
              </a:defRPr>
            </a:pPr>
            <a:r>
              <a:t>Search Index</a:t>
            </a:r>
            <a:br/>
            <a:r>
              <a:t>Single / Multiple Keywords</a:t>
            </a:r>
          </a:p>
        </p:txBody>
      </p:sp>
      <p:sp>
        <p:nvSpPr>
          <p:cNvPr id="14" name="Down Arrow 13"/>
          <p:cNvSpPr/>
          <p:nvPr/>
        </p:nvSpPr>
        <p:spPr>
          <a:xfrm>
            <a:off x="5806440" y="4672583"/>
            <a:ext cx="502920" cy="256032"/>
          </a:xfrm>
          <a:prstGeom prst="downArrow">
            <a:avLst/>
          </a:prstGeom>
          <a:solidFill>
            <a:srgbClr val="377D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886200" y="4846320"/>
            <a:ext cx="4389120" cy="502920"/>
          </a:xfrm>
          <a:prstGeom prst="roundRect">
            <a:avLst/>
          </a:prstGeom>
          <a:solidFill>
            <a:srgbClr val="F2F6FB"/>
          </a:solidFill>
          <a:ln>
            <a:solidFill>
              <a:srgbClr val="2B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2B37"/>
                </a:solidFill>
              </a:defRPr>
            </a:pPr>
            <a:r>
              <a:t>Retrieve &amp;</a:t>
            </a:r>
            <a:br/>
            <a:r>
              <a:t>Rank Documents</a:t>
            </a:r>
          </a:p>
        </p:txBody>
      </p:sp>
      <p:sp>
        <p:nvSpPr>
          <p:cNvPr id="16" name="Down Arrow 15"/>
          <p:cNvSpPr/>
          <p:nvPr/>
        </p:nvSpPr>
        <p:spPr>
          <a:xfrm>
            <a:off x="5806440" y="5358383"/>
            <a:ext cx="502920" cy="256032"/>
          </a:xfrm>
          <a:prstGeom prst="downArrow">
            <a:avLst/>
          </a:prstGeom>
          <a:solidFill>
            <a:srgbClr val="377D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886200" y="5532120"/>
            <a:ext cx="4389120" cy="502920"/>
          </a:xfrm>
          <a:prstGeom prst="roundRect">
            <a:avLst/>
          </a:prstGeom>
          <a:solidFill>
            <a:srgbClr val="F2F6FB"/>
          </a:solidFill>
          <a:ln>
            <a:solidFill>
              <a:srgbClr val="2B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32B37"/>
                </a:solidFill>
              </a:defRPr>
            </a:pPr>
            <a:r>
              <a:t>Display</a:t>
            </a:r>
            <a:br/>
            <a:r>
              <a:t>Results</a:t>
            </a:r>
          </a:p>
        </p:txBody>
      </p:sp>
    </p:spTree>
    <p:extLst>
      <p:ext uri="{BB962C8B-B14F-4D97-AF65-F5344CB8AC3E}">
        <p14:creationId xmlns:p14="http://schemas.microsoft.com/office/powerpoint/2010/main" val="3441026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5897255" cy="523220"/>
          </a:xfrm>
          <a:prstGeom prst="rect">
            <a:avLst/>
          </a:prstGeom>
          <a:noFill/>
        </p:spPr>
        <p:txBody>
          <a:bodyPr wrap="none" lIns="91440" tIns="45720" rIns="91440" bIns="45720" anchor="t">
            <a:spAutoFit/>
          </a:bodyPr>
          <a:lstStyle/>
          <a:p>
            <a:r>
              <a:rPr lang="en-US" sz="2800" b="1">
                <a:solidFill>
                  <a:srgbClr val="162640"/>
                </a:solidFill>
                <a:latin typeface="Aptos Display"/>
              </a:rPr>
              <a:t>                                                                  </a:t>
            </a:r>
            <a:r>
              <a:rPr sz="2800" b="1">
                <a:solidFill>
                  <a:srgbClr val="162640"/>
                </a:solidFill>
                <a:latin typeface="Aptos Display"/>
              </a:rPr>
              <a:t>Results</a:t>
            </a:r>
          </a:p>
        </p:txBody>
      </p:sp>
      <p:sp>
        <p:nvSpPr>
          <p:cNvPr id="4" name="TextBox 3"/>
          <p:cNvSpPr txBox="1"/>
          <p:nvPr/>
        </p:nvSpPr>
        <p:spPr>
          <a:xfrm>
            <a:off x="11155680" y="6419088"/>
            <a:ext cx="457200" cy="228600"/>
          </a:xfrm>
          <a:prstGeom prst="rect">
            <a:avLst/>
          </a:prstGeom>
          <a:noFill/>
        </p:spPr>
        <p:txBody>
          <a:bodyPr wrap="none">
            <a:spAutoFit/>
          </a:bodyPr>
          <a:lstStyle/>
          <a:p>
            <a:pPr algn="r"/>
            <a:r>
              <a:rPr sz="1000">
                <a:solidFill>
                  <a:srgbClr val="5C6878"/>
                </a:solidFill>
              </a:rPr>
              <a:t>7</a:t>
            </a:r>
          </a:p>
        </p:txBody>
      </p:sp>
      <p:sp>
        <p:nvSpPr>
          <p:cNvPr id="5" name="Rounded Rectangle 4"/>
          <p:cNvSpPr/>
          <p:nvPr/>
        </p:nvSpPr>
        <p:spPr>
          <a:xfrm>
            <a:off x="731520" y="1280160"/>
            <a:ext cx="5303520" cy="3611880"/>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Sample Search</a:t>
            </a:r>
          </a:p>
          <a:p>
            <a:pPr>
              <a:spcAft>
                <a:spcPts val="300"/>
              </a:spcAft>
              <a:defRPr sz="1350">
                <a:solidFill>
                  <a:srgbClr val="232B37"/>
                </a:solidFill>
                <a:latin typeface="Aptos"/>
              </a:defRPr>
            </a:pPr>
            <a:r>
              <a:t>Query: भारत</a:t>
            </a:r>
          </a:p>
          <a:p>
            <a:pPr>
              <a:spcAft>
                <a:spcPts val="300"/>
              </a:spcAft>
              <a:defRPr sz="1350">
                <a:solidFill>
                  <a:srgbClr val="232B37"/>
                </a:solidFill>
                <a:latin typeface="Aptos"/>
              </a:defRPr>
            </a:pPr>
            <a:endParaRPr/>
          </a:p>
          <a:p>
            <a:pPr>
              <a:spcAft>
                <a:spcPts val="300"/>
              </a:spcAft>
              <a:defRPr sz="1350">
                <a:solidFill>
                  <a:srgbClr val="232B37"/>
                </a:solidFill>
                <a:latin typeface="Aptos"/>
              </a:defRPr>
            </a:pPr>
            <a:r>
              <a:t>1. भारत का इतिहास — Frequency: 25</a:t>
            </a:r>
          </a:p>
          <a:p>
            <a:pPr>
              <a:spcAft>
                <a:spcPts val="300"/>
              </a:spcAft>
              <a:defRPr sz="1350">
                <a:solidFill>
                  <a:srgbClr val="232B37"/>
                </a:solidFill>
                <a:latin typeface="Aptos"/>
              </a:defRPr>
            </a:pPr>
            <a:r>
              <a:t>2. भारतीय स्वतंत्रता — Frequency: 18</a:t>
            </a:r>
          </a:p>
          <a:p>
            <a:pPr>
              <a:spcAft>
                <a:spcPts val="300"/>
              </a:spcAft>
              <a:defRPr sz="1350">
                <a:solidFill>
                  <a:srgbClr val="232B37"/>
                </a:solidFill>
                <a:latin typeface="Aptos"/>
              </a:defRPr>
            </a:pPr>
            <a:r>
              <a:t>3. भारत का संविधान — Frequency: 12</a:t>
            </a:r>
          </a:p>
          <a:p>
            <a:pPr>
              <a:spcAft>
                <a:spcPts val="300"/>
              </a:spcAft>
              <a:defRPr sz="1350">
                <a:solidFill>
                  <a:srgbClr val="232B37"/>
                </a:solidFill>
                <a:latin typeface="Aptos"/>
              </a:defRPr>
            </a:pPr>
            <a:endParaRPr/>
          </a:p>
          <a:p>
            <a:pPr>
              <a:spcAft>
                <a:spcPts val="300"/>
              </a:spcAft>
              <a:defRPr sz="1350">
                <a:solidFill>
                  <a:srgbClr val="232B37"/>
                </a:solidFill>
                <a:latin typeface="Aptos"/>
              </a:defRPr>
            </a:pPr>
            <a:r>
              <a:t>Multiple-keyword query:</a:t>
            </a:r>
          </a:p>
          <a:p>
            <a:pPr>
              <a:spcAft>
                <a:spcPts val="300"/>
              </a:spcAft>
              <a:defRPr sz="1350">
                <a:solidFill>
                  <a:srgbClr val="232B37"/>
                </a:solidFill>
                <a:latin typeface="Aptos"/>
              </a:defRPr>
            </a:pPr>
            <a:r>
              <a:t>भारत स्वतंत्रता → retrieve documents containing the requested keywords, then rank them.</a:t>
            </a:r>
          </a:p>
        </p:txBody>
      </p:sp>
      <p:sp>
        <p:nvSpPr>
          <p:cNvPr id="6" name="Rounded Rectangle 5"/>
          <p:cNvSpPr/>
          <p:nvPr/>
        </p:nvSpPr>
        <p:spPr>
          <a:xfrm>
            <a:off x="6355080" y="1280160"/>
            <a:ext cx="5074920" cy="3611880"/>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Performance Metrics</a:t>
            </a:r>
          </a:p>
          <a:p>
            <a:pPr>
              <a:spcAft>
                <a:spcPts val="300"/>
              </a:spcAft>
              <a:defRPr sz="1350">
                <a:solidFill>
                  <a:srgbClr val="232B37"/>
                </a:solidFill>
                <a:latin typeface="Aptos"/>
              </a:defRPr>
            </a:pPr>
            <a:r>
              <a:t>Report measured values from the implementation:</a:t>
            </a:r>
          </a:p>
          <a:p>
            <a:pPr>
              <a:spcAft>
                <a:spcPts val="300"/>
              </a:spcAft>
              <a:defRPr sz="1350">
                <a:solidFill>
                  <a:srgbClr val="232B37"/>
                </a:solidFill>
                <a:latin typeface="Aptos"/>
              </a:defRPr>
            </a:pPr>
            <a:endParaRPr/>
          </a:p>
          <a:p>
            <a:pPr>
              <a:spcAft>
                <a:spcPts val="300"/>
              </a:spcAft>
              <a:defRPr sz="1350">
                <a:solidFill>
                  <a:srgbClr val="232B37"/>
                </a:solidFill>
                <a:latin typeface="Aptos"/>
              </a:defRPr>
            </a:pPr>
            <a:r>
              <a:t>Documents indexed: __________</a:t>
            </a:r>
          </a:p>
          <a:p>
            <a:pPr>
              <a:spcAft>
                <a:spcPts val="300"/>
              </a:spcAft>
              <a:defRPr sz="1350">
                <a:solidFill>
                  <a:srgbClr val="232B37"/>
                </a:solidFill>
                <a:latin typeface="Aptos"/>
              </a:defRPr>
            </a:pPr>
            <a:r>
              <a:t>Indexed terms: __________</a:t>
            </a:r>
          </a:p>
          <a:p>
            <a:pPr>
              <a:spcAft>
                <a:spcPts val="300"/>
              </a:spcAft>
              <a:defRPr sz="1350">
                <a:solidFill>
                  <a:srgbClr val="232B37"/>
                </a:solidFill>
                <a:latin typeface="Aptos"/>
              </a:defRPr>
            </a:pPr>
            <a:r>
              <a:t>Index construction time: __________</a:t>
            </a:r>
          </a:p>
          <a:p>
            <a:pPr>
              <a:spcAft>
                <a:spcPts val="300"/>
              </a:spcAft>
              <a:defRPr sz="1350">
                <a:solidFill>
                  <a:srgbClr val="232B37"/>
                </a:solidFill>
                <a:latin typeface="Aptos"/>
              </a:defRPr>
            </a:pPr>
            <a:r>
              <a:t>Average search time: __________ ms</a:t>
            </a:r>
          </a:p>
          <a:p>
            <a:pPr>
              <a:spcAft>
                <a:spcPts val="300"/>
              </a:spcAft>
              <a:defRPr sz="1350">
                <a:solidFill>
                  <a:srgbClr val="232B37"/>
                </a:solidFill>
                <a:latin typeface="Aptos"/>
              </a:defRPr>
            </a:pPr>
            <a:r>
              <a:t>Corpus/index size: __________</a:t>
            </a:r>
          </a:p>
          <a:p>
            <a:pPr>
              <a:spcAft>
                <a:spcPts val="300"/>
              </a:spcAft>
              <a:defRPr sz="1350">
                <a:solidFill>
                  <a:srgbClr val="232B37"/>
                </a:solidFill>
                <a:latin typeface="Aptos"/>
              </a:defRPr>
            </a:pPr>
            <a:endParaRPr/>
          </a:p>
          <a:p>
            <a:pPr>
              <a:spcAft>
                <a:spcPts val="300"/>
              </a:spcAft>
              <a:defRPr sz="1350">
                <a:solidFill>
                  <a:srgbClr val="232B37"/>
                </a:solidFill>
                <a:latin typeface="Aptos"/>
              </a:defRPr>
            </a:pPr>
            <a:r>
              <a:t>Note: Replace blanks with actual measured results; do not use estimated values.</a:t>
            </a:r>
          </a:p>
        </p:txBody>
      </p:sp>
      <p:sp>
        <p:nvSpPr>
          <p:cNvPr id="7" name="TextBox 6"/>
          <p:cNvSpPr txBox="1"/>
          <p:nvPr/>
        </p:nvSpPr>
        <p:spPr>
          <a:xfrm>
            <a:off x="822960" y="5257800"/>
            <a:ext cx="10515600" cy="640080"/>
          </a:xfrm>
          <a:prstGeom prst="rect">
            <a:avLst/>
          </a:prstGeom>
          <a:noFill/>
        </p:spPr>
        <p:txBody>
          <a:bodyPr wrap="square" lIns="45720" tIns="27432" rIns="45720" bIns="27432">
            <a:spAutoFit/>
          </a:bodyPr>
          <a:lstStyle/>
          <a:p>
            <a:pPr>
              <a:spcAft>
                <a:spcPts val="700"/>
              </a:spcAft>
              <a:defRPr sz="1600">
                <a:solidFill>
                  <a:srgbClr val="2B5BA0"/>
                </a:solidFill>
                <a:latin typeface="Aptos"/>
              </a:defRPr>
            </a:pPr>
            <a:r>
              <a:t>Key Result: Pre-built indexing allows the search phase to focus on relevant document postings instead of repeatedly scanning the entire corpus.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6268063" cy="523220"/>
          </a:xfrm>
          <a:prstGeom prst="rect">
            <a:avLst/>
          </a:prstGeom>
          <a:noFill/>
        </p:spPr>
        <p:txBody>
          <a:bodyPr wrap="none" lIns="91440" tIns="45720" rIns="91440" bIns="45720" anchor="t">
            <a:spAutoFit/>
          </a:bodyPr>
          <a:lstStyle/>
          <a:p>
            <a:r>
              <a:rPr lang="en-US" sz="2800" b="1">
                <a:solidFill>
                  <a:srgbClr val="162640"/>
                </a:solidFill>
                <a:latin typeface="Aptos Display"/>
              </a:rPr>
              <a:t>                                                               </a:t>
            </a:r>
            <a:r>
              <a:rPr sz="2800" b="1">
                <a:solidFill>
                  <a:srgbClr val="162640"/>
                </a:solidFill>
                <a:latin typeface="Aptos Display"/>
              </a:rPr>
              <a:t>Conclusion</a:t>
            </a:r>
          </a:p>
        </p:txBody>
      </p:sp>
      <p:sp>
        <p:nvSpPr>
          <p:cNvPr id="4" name="TextBox 3"/>
          <p:cNvSpPr txBox="1"/>
          <p:nvPr/>
        </p:nvSpPr>
        <p:spPr>
          <a:xfrm>
            <a:off x="11155680" y="6419088"/>
            <a:ext cx="457200" cy="228600"/>
          </a:xfrm>
          <a:prstGeom prst="rect">
            <a:avLst/>
          </a:prstGeom>
          <a:noFill/>
        </p:spPr>
        <p:txBody>
          <a:bodyPr wrap="none">
            <a:spAutoFit/>
          </a:bodyPr>
          <a:lstStyle/>
          <a:p>
            <a:pPr algn="r"/>
            <a:r>
              <a:rPr sz="1000">
                <a:solidFill>
                  <a:srgbClr val="5C6878"/>
                </a:solidFill>
              </a:rPr>
              <a:t>9</a:t>
            </a:r>
          </a:p>
        </p:txBody>
      </p:sp>
      <p:sp>
        <p:nvSpPr>
          <p:cNvPr id="5" name="TextBox 4"/>
          <p:cNvSpPr txBox="1"/>
          <p:nvPr/>
        </p:nvSpPr>
        <p:spPr>
          <a:xfrm>
            <a:off x="1627483" y="1126724"/>
            <a:ext cx="10469880" cy="4754880"/>
          </a:xfrm>
          <a:prstGeom prst="rect">
            <a:avLst/>
          </a:prstGeom>
          <a:noFill/>
        </p:spPr>
        <p:txBody>
          <a:bodyPr wrap="square" lIns="45720" tIns="27432" rIns="45720" bIns="27432">
            <a:spAutoFit/>
          </a:bodyPr>
          <a:lstStyle/>
          <a:p>
            <a:pPr>
              <a:spcAft>
                <a:spcPts val="700"/>
              </a:spcAft>
              <a:defRPr sz="1800">
                <a:solidFill>
                  <a:srgbClr val="232B37"/>
                </a:solidFill>
                <a:latin typeface="Aptos"/>
              </a:defRPr>
            </a:pPr>
            <a:r>
              <a:t>• Designed a keyword-based search engine for Indian-language Wikipedia data.</a:t>
            </a:r>
          </a:p>
          <a:p>
            <a:pPr>
              <a:spcAft>
                <a:spcPts val="700"/>
              </a:spcAft>
              <a:defRPr sz="1800">
                <a:solidFill>
                  <a:srgbClr val="232B37"/>
                </a:solidFill>
                <a:latin typeface="Aptos"/>
              </a:defRPr>
            </a:pPr>
            <a:r>
              <a:t>• Uses preprocessing and an inverted index to improve retrieval efficiency.</a:t>
            </a:r>
          </a:p>
          <a:p>
            <a:pPr>
              <a:spcAft>
                <a:spcPts val="700"/>
              </a:spcAft>
              <a:defRPr sz="1800">
                <a:solidFill>
                  <a:srgbClr val="232B37"/>
                </a:solidFill>
                <a:latin typeface="Aptos"/>
              </a:defRPr>
            </a:pPr>
            <a:r>
              <a:t>• Supports Unicode text for Indian-language content.</a:t>
            </a:r>
          </a:p>
          <a:p>
            <a:pPr>
              <a:spcAft>
                <a:spcPts val="700"/>
              </a:spcAft>
              <a:defRPr sz="1800">
                <a:solidFill>
                  <a:srgbClr val="232B37"/>
                </a:solidFill>
                <a:latin typeface="Aptos"/>
              </a:defRPr>
            </a:pPr>
            <a:r>
              <a:t>• Supports single and multiple keyword searches.</a:t>
            </a:r>
          </a:p>
          <a:p>
            <a:pPr>
              <a:spcAft>
                <a:spcPts val="700"/>
              </a:spcAft>
              <a:defRPr sz="1800">
                <a:solidFill>
                  <a:srgbClr val="232B37"/>
                </a:solidFill>
                <a:latin typeface="Aptos"/>
              </a:defRPr>
            </a:pPr>
            <a:r>
              <a:t>• Ranks matching documents using keyword occurrence/frequency.</a:t>
            </a:r>
          </a:p>
          <a:p>
            <a:pPr>
              <a:spcAft>
                <a:spcPts val="700"/>
              </a:spcAft>
              <a:defRPr sz="1800">
                <a:solidFill>
                  <a:srgbClr val="232B37"/>
                </a:solidFill>
                <a:latin typeface="Aptos"/>
              </a:defRPr>
            </a:pPr>
            <a:r>
              <a:t>• Reduces the need to scan the complete corpus for every query.</a:t>
            </a:r>
          </a:p>
          <a:p>
            <a:pPr>
              <a:spcAft>
                <a:spcPts val="700"/>
              </a:spcAft>
              <a:defRPr sz="1800">
                <a:solidFill>
                  <a:srgbClr val="232B37"/>
                </a:solidFill>
                <a:latin typeface="Aptos"/>
              </a:defRPr>
            </a:pPr>
            <a:r>
              <a:t>• Provides a foundation for scalable large-text search.</a:t>
            </a:r>
          </a:p>
          <a:p>
            <a:pPr>
              <a:spcAft>
                <a:spcPts val="700"/>
              </a:spcAft>
              <a:defRPr sz="1800">
                <a:solidFill>
                  <a:srgbClr val="232B37"/>
                </a:solidFill>
                <a:latin typeface="Aptos"/>
              </a:defRPr>
            </a:pPr>
            <a:endParaRPr/>
          </a:p>
          <a:p>
            <a:pPr>
              <a:spcAft>
                <a:spcPts val="700"/>
              </a:spcAft>
              <a:defRPr sz="1800">
                <a:solidFill>
                  <a:srgbClr val="232B37"/>
                </a:solidFill>
                <a:latin typeface="Aptos"/>
              </a:defRPr>
            </a:pPr>
            <a:r>
              <a:t>Key Takeaway</a:t>
            </a:r>
          </a:p>
          <a:p>
            <a:pPr>
              <a:spcAft>
                <a:spcPts val="700"/>
              </a:spcAft>
              <a:defRPr sz="1800">
                <a:solidFill>
                  <a:srgbClr val="232B37"/>
                </a:solidFill>
                <a:latin typeface="Aptos"/>
              </a:defRPr>
            </a:pPr>
            <a:r>
              <a:t>Efficient Data Structures  →  Faster Retrieval  →  Better Scalability</a:t>
            </a:r>
          </a:p>
        </p:txBody>
      </p:sp>
    </p:spTree>
    <p:extLst>
      <p:ext uri="{BB962C8B-B14F-4D97-AF65-F5344CB8AC3E}">
        <p14:creationId xmlns:p14="http://schemas.microsoft.com/office/powerpoint/2010/main" val="2292750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6135269" cy="523220"/>
          </a:xfrm>
          <a:prstGeom prst="rect">
            <a:avLst/>
          </a:prstGeom>
          <a:noFill/>
        </p:spPr>
        <p:txBody>
          <a:bodyPr wrap="none" lIns="91440" tIns="45720" rIns="91440" bIns="45720" anchor="t">
            <a:spAutoFit/>
          </a:bodyPr>
          <a:lstStyle/>
          <a:p>
            <a:r>
              <a:rPr lang="en-US" sz="2800" b="1">
                <a:solidFill>
                  <a:srgbClr val="162640"/>
                </a:solidFill>
                <a:latin typeface="Aptos Display"/>
              </a:rPr>
              <a:t>                                                         </a:t>
            </a:r>
            <a:r>
              <a:rPr sz="2800" b="1">
                <a:solidFill>
                  <a:srgbClr val="162640"/>
                </a:solidFill>
                <a:latin typeface="Aptos Display"/>
              </a:rPr>
              <a:t>Future Scope</a:t>
            </a:r>
          </a:p>
        </p:txBody>
      </p:sp>
      <p:sp>
        <p:nvSpPr>
          <p:cNvPr id="4" name="TextBox 3"/>
          <p:cNvSpPr txBox="1"/>
          <p:nvPr/>
        </p:nvSpPr>
        <p:spPr>
          <a:xfrm>
            <a:off x="11155680" y="6419088"/>
            <a:ext cx="457200" cy="228600"/>
          </a:xfrm>
          <a:prstGeom prst="rect">
            <a:avLst/>
          </a:prstGeom>
          <a:noFill/>
        </p:spPr>
        <p:txBody>
          <a:bodyPr wrap="none">
            <a:spAutoFit/>
          </a:bodyPr>
          <a:lstStyle/>
          <a:p>
            <a:pPr algn="r"/>
            <a:r>
              <a:rPr sz="1000">
                <a:solidFill>
                  <a:srgbClr val="5C6878"/>
                </a:solidFill>
              </a:rPr>
              <a:t>10</a:t>
            </a:r>
          </a:p>
        </p:txBody>
      </p:sp>
      <p:sp>
        <p:nvSpPr>
          <p:cNvPr id="5" name="Rounded Rectangle 4"/>
          <p:cNvSpPr/>
          <p:nvPr/>
        </p:nvSpPr>
        <p:spPr>
          <a:xfrm>
            <a:off x="731520" y="1280160"/>
            <a:ext cx="3429000" cy="1874519"/>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Advanced Ranking</a:t>
            </a:r>
          </a:p>
          <a:p>
            <a:pPr>
              <a:spcAft>
                <a:spcPts val="300"/>
              </a:spcAft>
              <a:defRPr sz="1350">
                <a:solidFill>
                  <a:srgbClr val="232B37"/>
                </a:solidFill>
                <a:latin typeface="Aptos"/>
              </a:defRPr>
            </a:pPr>
            <a:r>
              <a:t>TF-IDF</a:t>
            </a:r>
          </a:p>
          <a:p>
            <a:pPr>
              <a:spcAft>
                <a:spcPts val="300"/>
              </a:spcAft>
              <a:defRPr sz="1350">
                <a:solidFill>
                  <a:srgbClr val="232B37"/>
                </a:solidFill>
                <a:latin typeface="Aptos"/>
              </a:defRPr>
            </a:pPr>
            <a:r>
              <a:t>BM25</a:t>
            </a:r>
          </a:p>
          <a:p>
            <a:pPr>
              <a:spcAft>
                <a:spcPts val="300"/>
              </a:spcAft>
              <a:defRPr sz="1350">
                <a:solidFill>
                  <a:srgbClr val="232B37"/>
                </a:solidFill>
                <a:latin typeface="Aptos"/>
              </a:defRPr>
            </a:pPr>
            <a:r>
              <a:t>Better relevance scoring</a:t>
            </a:r>
          </a:p>
        </p:txBody>
      </p:sp>
      <p:sp>
        <p:nvSpPr>
          <p:cNvPr id="6" name="Rounded Rectangle 5"/>
          <p:cNvSpPr/>
          <p:nvPr/>
        </p:nvSpPr>
        <p:spPr>
          <a:xfrm>
            <a:off x="4389120" y="1280160"/>
            <a:ext cx="3429000" cy="1874519"/>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Semantic Search</a:t>
            </a:r>
          </a:p>
          <a:p>
            <a:pPr>
              <a:spcAft>
                <a:spcPts val="300"/>
              </a:spcAft>
              <a:defRPr sz="1350">
                <a:solidFill>
                  <a:srgbClr val="232B37"/>
                </a:solidFill>
                <a:latin typeface="Aptos"/>
              </a:defRPr>
            </a:pPr>
            <a:r>
              <a:t>Embeddings</a:t>
            </a:r>
          </a:p>
          <a:p>
            <a:pPr>
              <a:spcAft>
                <a:spcPts val="300"/>
              </a:spcAft>
              <a:defRPr sz="1350">
                <a:solidFill>
                  <a:srgbClr val="232B37"/>
                </a:solidFill>
                <a:latin typeface="Aptos"/>
              </a:defRPr>
            </a:pPr>
            <a:r>
              <a:t>Vector search</a:t>
            </a:r>
          </a:p>
          <a:p>
            <a:pPr>
              <a:spcAft>
                <a:spcPts val="300"/>
              </a:spcAft>
              <a:defRPr sz="1350">
                <a:solidFill>
                  <a:srgbClr val="232B37"/>
                </a:solidFill>
                <a:latin typeface="Aptos"/>
              </a:defRPr>
            </a:pPr>
            <a:r>
              <a:t>Meaning-based retrieval</a:t>
            </a:r>
          </a:p>
        </p:txBody>
      </p:sp>
      <p:sp>
        <p:nvSpPr>
          <p:cNvPr id="7" name="Rounded Rectangle 6"/>
          <p:cNvSpPr/>
          <p:nvPr/>
        </p:nvSpPr>
        <p:spPr>
          <a:xfrm>
            <a:off x="8046720" y="1280160"/>
            <a:ext cx="3429000" cy="1874519"/>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More Languages</a:t>
            </a:r>
          </a:p>
          <a:p>
            <a:pPr>
              <a:spcAft>
                <a:spcPts val="300"/>
              </a:spcAft>
              <a:defRPr sz="1350">
                <a:solidFill>
                  <a:srgbClr val="232B37"/>
                </a:solidFill>
                <a:latin typeface="Aptos"/>
              </a:defRPr>
            </a:pPr>
            <a:r>
              <a:t>Telugu, Hindi, Tamil,</a:t>
            </a:r>
          </a:p>
          <a:p>
            <a:pPr>
              <a:spcAft>
                <a:spcPts val="300"/>
              </a:spcAft>
              <a:defRPr sz="1350">
                <a:solidFill>
                  <a:srgbClr val="232B37"/>
                </a:solidFill>
                <a:latin typeface="Aptos"/>
              </a:defRPr>
            </a:pPr>
            <a:r>
              <a:t>Kannada, Malayalam,</a:t>
            </a:r>
          </a:p>
          <a:p>
            <a:pPr>
              <a:spcAft>
                <a:spcPts val="300"/>
              </a:spcAft>
              <a:defRPr sz="1350">
                <a:solidFill>
                  <a:srgbClr val="232B37"/>
                </a:solidFill>
                <a:latin typeface="Aptos"/>
              </a:defRPr>
            </a:pPr>
            <a:r>
              <a:t>Bengali and others</a:t>
            </a:r>
          </a:p>
        </p:txBody>
      </p:sp>
      <p:sp>
        <p:nvSpPr>
          <p:cNvPr id="8" name="Rounded Rectangle 7"/>
          <p:cNvSpPr/>
          <p:nvPr/>
        </p:nvSpPr>
        <p:spPr>
          <a:xfrm>
            <a:off x="731520" y="3429000"/>
            <a:ext cx="3429000" cy="1874519"/>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Scalability</a:t>
            </a:r>
          </a:p>
          <a:p>
            <a:pPr>
              <a:spcAft>
                <a:spcPts val="300"/>
              </a:spcAft>
              <a:defRPr sz="1350">
                <a:solidFill>
                  <a:srgbClr val="232B37"/>
                </a:solidFill>
                <a:latin typeface="Aptos"/>
              </a:defRPr>
            </a:pPr>
            <a:r>
              <a:t>Distributed indexing</a:t>
            </a:r>
          </a:p>
          <a:p>
            <a:pPr>
              <a:spcAft>
                <a:spcPts val="300"/>
              </a:spcAft>
              <a:defRPr sz="1350">
                <a:solidFill>
                  <a:srgbClr val="232B37"/>
                </a:solidFill>
                <a:latin typeface="Aptos"/>
              </a:defRPr>
            </a:pPr>
            <a:r>
              <a:t>Parallel search</a:t>
            </a:r>
          </a:p>
          <a:p>
            <a:pPr>
              <a:spcAft>
                <a:spcPts val="300"/>
              </a:spcAft>
              <a:defRPr sz="1350">
                <a:solidFill>
                  <a:srgbClr val="232B37"/>
                </a:solidFill>
                <a:latin typeface="Aptos"/>
              </a:defRPr>
            </a:pPr>
            <a:r>
              <a:t>Large-corpus deployment</a:t>
            </a:r>
          </a:p>
        </p:txBody>
      </p:sp>
      <p:sp>
        <p:nvSpPr>
          <p:cNvPr id="9" name="Rounded Rectangle 8"/>
          <p:cNvSpPr/>
          <p:nvPr/>
        </p:nvSpPr>
        <p:spPr>
          <a:xfrm>
            <a:off x="4389120" y="3429000"/>
            <a:ext cx="3429000" cy="1874519"/>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User Features</a:t>
            </a:r>
          </a:p>
          <a:p>
            <a:pPr>
              <a:spcAft>
                <a:spcPts val="300"/>
              </a:spcAft>
              <a:defRPr sz="1350">
                <a:solidFill>
                  <a:srgbClr val="232B37"/>
                </a:solidFill>
                <a:latin typeface="Aptos"/>
              </a:defRPr>
            </a:pPr>
            <a:r>
              <a:t>Web interface</a:t>
            </a:r>
          </a:p>
          <a:p>
            <a:pPr>
              <a:spcAft>
                <a:spcPts val="300"/>
              </a:spcAft>
              <a:defRPr sz="1350">
                <a:solidFill>
                  <a:srgbClr val="232B37"/>
                </a:solidFill>
                <a:latin typeface="Aptos"/>
              </a:defRPr>
            </a:pPr>
            <a:r>
              <a:t>Suggestions</a:t>
            </a:r>
          </a:p>
          <a:p>
            <a:pPr>
              <a:spcAft>
                <a:spcPts val="300"/>
              </a:spcAft>
              <a:defRPr sz="1350">
                <a:solidFill>
                  <a:srgbClr val="232B37"/>
                </a:solidFill>
                <a:latin typeface="Aptos"/>
              </a:defRPr>
            </a:pPr>
            <a:r>
              <a:t>Spelling correction</a:t>
            </a:r>
          </a:p>
        </p:txBody>
      </p:sp>
      <p:sp>
        <p:nvSpPr>
          <p:cNvPr id="10" name="Rounded Rectangle 9"/>
          <p:cNvSpPr/>
          <p:nvPr/>
        </p:nvSpPr>
        <p:spPr>
          <a:xfrm>
            <a:off x="8046720" y="3429000"/>
            <a:ext cx="3429000" cy="1874519"/>
          </a:xfrm>
          <a:prstGeom prst="roundRect">
            <a:avLst/>
          </a:prstGeom>
          <a:solidFill>
            <a:srgbClr val="F2F6FB"/>
          </a:solidFill>
          <a:ln>
            <a:solidFill>
              <a:srgbClr val="DCE3E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700"/>
              </a:spcAft>
              <a:defRPr sz="1700" b="1">
                <a:solidFill>
                  <a:srgbClr val="2B5BA0"/>
                </a:solidFill>
                <a:latin typeface="Aptos"/>
              </a:defRPr>
            </a:pPr>
            <a:r>
              <a:t>Incremental Indexing</a:t>
            </a:r>
          </a:p>
          <a:p>
            <a:pPr>
              <a:spcAft>
                <a:spcPts val="300"/>
              </a:spcAft>
              <a:defRPr sz="1350">
                <a:solidFill>
                  <a:srgbClr val="232B37"/>
                </a:solidFill>
                <a:latin typeface="Aptos"/>
              </a:defRPr>
            </a:pPr>
            <a:r>
              <a:t>Add new documents without rebuilding the complete index.</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       Data Structures and Algorithms -3 (25CS2103E)  Fastest Keyword Search Engine for Indian-Language Wikipedia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revision>1</cp:revision>
  <dcterms:created xsi:type="dcterms:W3CDTF">2024-08-29T05:25:00Z</dcterms:created>
  <dcterms:modified xsi:type="dcterms:W3CDTF">2026-09-09T08:16:55Z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